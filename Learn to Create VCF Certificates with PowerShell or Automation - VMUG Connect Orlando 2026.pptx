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9.jpg" ContentType="image/png"/>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4" r:id="rId2"/>
  </p:sldMasterIdLst>
  <p:notesMasterIdLst>
    <p:notesMasterId r:id="rId41"/>
  </p:notesMasterIdLst>
  <p:sldIdLst>
    <p:sldId id="257" r:id="rId3"/>
    <p:sldId id="258" r:id="rId4"/>
    <p:sldId id="263" r:id="rId5"/>
    <p:sldId id="264" r:id="rId6"/>
    <p:sldId id="265" r:id="rId7"/>
    <p:sldId id="266" r:id="rId8"/>
    <p:sldId id="267" r:id="rId9"/>
    <p:sldId id="269" r:id="rId10"/>
    <p:sldId id="268" r:id="rId11"/>
    <p:sldId id="272" r:id="rId12"/>
    <p:sldId id="271" r:id="rId13"/>
    <p:sldId id="273" r:id="rId14"/>
    <p:sldId id="275" r:id="rId15"/>
    <p:sldId id="270" r:id="rId16"/>
    <p:sldId id="274" r:id="rId17"/>
    <p:sldId id="276" r:id="rId18"/>
    <p:sldId id="278" r:id="rId19"/>
    <p:sldId id="279" r:id="rId20"/>
    <p:sldId id="282" r:id="rId21"/>
    <p:sldId id="283" r:id="rId22"/>
    <p:sldId id="285" r:id="rId23"/>
    <p:sldId id="284" r:id="rId24"/>
    <p:sldId id="281" r:id="rId25"/>
    <p:sldId id="288" r:id="rId26"/>
    <p:sldId id="289" r:id="rId27"/>
    <p:sldId id="280" r:id="rId28"/>
    <p:sldId id="287" r:id="rId29"/>
    <p:sldId id="286" r:id="rId30"/>
    <p:sldId id="290" r:id="rId31"/>
    <p:sldId id="292" r:id="rId32"/>
    <p:sldId id="291" r:id="rId33"/>
    <p:sldId id="294" r:id="rId34"/>
    <p:sldId id="293" r:id="rId35"/>
    <p:sldId id="295" r:id="rId36"/>
    <p:sldId id="296" r:id="rId37"/>
    <p:sldId id="277" r:id="rId38"/>
    <p:sldId id="261" r:id="rId39"/>
    <p:sldId id="26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4289"/>
    <a:srgbClr val="1D42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7D72A-5712-4115-8923-B97D6FA2B5B6}"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1F27B8-1BF8-42AF-A198-9AC3AA1CED8F}" type="slidenum">
              <a:rPr lang="en-US" smtClean="0"/>
              <a:t>‹#›</a:t>
            </a:fld>
            <a:endParaRPr lang="en-US"/>
          </a:p>
        </p:txBody>
      </p:sp>
    </p:spTree>
    <p:extLst>
      <p:ext uri="{BB962C8B-B14F-4D97-AF65-F5344CB8AC3E}">
        <p14:creationId xmlns:p14="http://schemas.microsoft.com/office/powerpoint/2010/main" val="2903898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7962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3365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8365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5495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5990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2798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8058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8527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6225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4413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1888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8222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3940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3123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15356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05454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8771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0835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45769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14804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85060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3839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14198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86511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02898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2500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41998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79130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49078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0724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97079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35207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5836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B343D-0DB1-0F82-4D3B-D654320E09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9F9164-00D3-B23F-10C5-D649D40769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775966-18AF-62FA-8A7C-61952BF0A40F}"/>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5" name="Footer Placeholder 4">
            <a:extLst>
              <a:ext uri="{FF2B5EF4-FFF2-40B4-BE49-F238E27FC236}">
                <a16:creationId xmlns:a16="http://schemas.microsoft.com/office/drawing/2014/main" id="{294E6524-2C61-8A33-F95C-76E060614D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8F9610-AA91-2163-F7DD-1592B650F719}"/>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1129266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EE5B7-F99B-AB7B-36DF-8110F56012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2EF8E7-3B59-B349-6179-EBB2125C89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28466-2883-4644-EECE-ECC3E371EB84}"/>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5" name="Footer Placeholder 4">
            <a:extLst>
              <a:ext uri="{FF2B5EF4-FFF2-40B4-BE49-F238E27FC236}">
                <a16:creationId xmlns:a16="http://schemas.microsoft.com/office/drawing/2014/main" id="{7B1A9F55-5D6C-0316-06D9-CD6384CFF3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6F730-C414-02A6-922A-68B290CB7E40}"/>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2645475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AEFD5-592C-2289-0FB7-67BB22F887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F71563-38E9-C19C-2B82-AC2DE4E9E5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19D3E5-B1D1-F619-7783-FD5F58229B87}"/>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5" name="Footer Placeholder 4">
            <a:extLst>
              <a:ext uri="{FF2B5EF4-FFF2-40B4-BE49-F238E27FC236}">
                <a16:creationId xmlns:a16="http://schemas.microsoft.com/office/drawing/2014/main" id="{32A44E1A-147D-6340-B480-E7C7E6648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D04B6-C00F-F2A2-1441-FC8819E1693C}"/>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1842943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83353-0F81-6A02-7F0F-08A5260690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29D820-05EA-5221-28EC-53233CC859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BEB479-C76F-469E-1481-40E117F0C0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1D8945-5153-E514-5BE6-2ECFCC91DBEA}"/>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6" name="Footer Placeholder 5">
            <a:extLst>
              <a:ext uri="{FF2B5EF4-FFF2-40B4-BE49-F238E27FC236}">
                <a16:creationId xmlns:a16="http://schemas.microsoft.com/office/drawing/2014/main" id="{601554A4-D3A8-A162-F7AC-C50DF17DB9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A289F2-7B89-1C4D-F786-83196A9F0ABF}"/>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2187884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377A5-1703-77C4-449E-599724EBF2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63EB49-8735-6C12-8CD7-D74DF97D4D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D2C0E9-5EE7-C428-AC0F-94F0A6496D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8A3F0D-5FA1-5B2B-6CBA-254CD8FF04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DC8135-C532-229F-0403-A1AB245D60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1F9446-15E0-EFAC-6D18-C2A314775024}"/>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8" name="Footer Placeholder 7">
            <a:extLst>
              <a:ext uri="{FF2B5EF4-FFF2-40B4-BE49-F238E27FC236}">
                <a16:creationId xmlns:a16="http://schemas.microsoft.com/office/drawing/2014/main" id="{40746CC0-5481-252E-0FA7-B92DD52C9F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34B23A-3D3A-3429-8EDD-1A7D009AE517}"/>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4163723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CE010-535D-627D-F7C2-0FEE4D8250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078B6E-6FAA-3863-F81F-E2F52C942BE3}"/>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4" name="Footer Placeholder 3">
            <a:extLst>
              <a:ext uri="{FF2B5EF4-FFF2-40B4-BE49-F238E27FC236}">
                <a16:creationId xmlns:a16="http://schemas.microsoft.com/office/drawing/2014/main" id="{CFC63E11-452F-4695-39E5-0AC87589C5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2EF72C-993D-1977-A2F9-AF136CECB11C}"/>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2651226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B965CE-1AEE-DFAB-9D31-333B3FB8F9A6}"/>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3" name="Footer Placeholder 2">
            <a:extLst>
              <a:ext uri="{FF2B5EF4-FFF2-40B4-BE49-F238E27FC236}">
                <a16:creationId xmlns:a16="http://schemas.microsoft.com/office/drawing/2014/main" id="{C48772A6-2476-E98A-8B97-4161328B5A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461B57-34CA-2B49-6593-ACDA6E3CAE1D}"/>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4006917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F2DE2-00CB-2D8C-91DC-4AE1114611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069849-E84B-0D59-BBF5-FEC971D5C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6AEEF3-CA9A-90FE-157B-E4216F4A4B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2AC202-71F7-6F03-8516-43B34CC0A8B3}"/>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6" name="Footer Placeholder 5">
            <a:extLst>
              <a:ext uri="{FF2B5EF4-FFF2-40B4-BE49-F238E27FC236}">
                <a16:creationId xmlns:a16="http://schemas.microsoft.com/office/drawing/2014/main" id="{47A934FB-41A9-0765-1E79-584859E2EC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5410AA-42C9-CC8D-6736-3DAD3E5649B6}"/>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603346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06B27-ABF4-3E3A-C48F-35DA1C0802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3C0B55-5A26-CE9A-01EE-D83B7AFC9B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B81A18-AD9C-7904-7A33-7C4A0F21E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F1F6DF-E5DF-1816-0033-84EA92E34FC5}"/>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6" name="Footer Placeholder 5">
            <a:extLst>
              <a:ext uri="{FF2B5EF4-FFF2-40B4-BE49-F238E27FC236}">
                <a16:creationId xmlns:a16="http://schemas.microsoft.com/office/drawing/2014/main" id="{A9691D69-0854-8FB1-6872-EEA9DBC012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3D2B2C-F438-9DDD-4364-BF646AE4E42E}"/>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2961091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D3D2A-02BA-0C25-1D47-CEC295F5E0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D01F1D-E921-637A-1D9C-A438B7B24E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B206AC-443E-B735-4AB9-550EF3A3FC48}"/>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5" name="Footer Placeholder 4">
            <a:extLst>
              <a:ext uri="{FF2B5EF4-FFF2-40B4-BE49-F238E27FC236}">
                <a16:creationId xmlns:a16="http://schemas.microsoft.com/office/drawing/2014/main" id="{9559AA78-2A50-CA47-7A2F-4DA500AEC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B822C-A86C-8DB2-8F2F-CF5588FE429E}"/>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1639708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67D08B-CAEC-2C01-C4E8-FE874ED7AC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10A8EE-5D78-BE69-0602-FCD6657357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2AEF89-7BA4-0FD6-1146-C6595447C710}"/>
              </a:ext>
            </a:extLst>
          </p:cNvPr>
          <p:cNvSpPr>
            <a:spLocks noGrp="1"/>
          </p:cNvSpPr>
          <p:nvPr>
            <p:ph type="dt" sz="half" idx="10"/>
          </p:nvPr>
        </p:nvSpPr>
        <p:spPr/>
        <p:txBody>
          <a:bodyPr/>
          <a:lstStyle/>
          <a:p>
            <a:fld id="{B394A229-023C-4B5A-A24C-C04FA79CD2ED}" type="datetimeFigureOut">
              <a:rPr lang="en-US" smtClean="0"/>
              <a:t>10/18/2026</a:t>
            </a:fld>
            <a:endParaRPr lang="en-US"/>
          </a:p>
        </p:txBody>
      </p:sp>
      <p:sp>
        <p:nvSpPr>
          <p:cNvPr id="5" name="Footer Placeholder 4">
            <a:extLst>
              <a:ext uri="{FF2B5EF4-FFF2-40B4-BE49-F238E27FC236}">
                <a16:creationId xmlns:a16="http://schemas.microsoft.com/office/drawing/2014/main" id="{B128B36B-B65D-AA1C-8A3A-C8CA43EBD7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31D4A5-8570-B1EE-62B0-A5F9C9332CCD}"/>
              </a:ext>
            </a:extLst>
          </p:cNvPr>
          <p:cNvSpPr>
            <a:spLocks noGrp="1"/>
          </p:cNvSpPr>
          <p:nvPr>
            <p:ph type="sldNum" sz="quarter" idx="12"/>
          </p:nvPr>
        </p:nvSpPr>
        <p:spPr/>
        <p:txBody>
          <a:bodyPr/>
          <a:lstStyle/>
          <a:p>
            <a:fld id="{F54EC98E-CE2C-43EE-80C1-3184AD77C0A1}" type="slidenum">
              <a:rPr lang="en-US" smtClean="0"/>
              <a:t>‹#›</a:t>
            </a:fld>
            <a:endParaRPr lang="en-US"/>
          </a:p>
        </p:txBody>
      </p:sp>
    </p:spTree>
    <p:extLst>
      <p:ext uri="{BB962C8B-B14F-4D97-AF65-F5344CB8AC3E}">
        <p14:creationId xmlns:p14="http://schemas.microsoft.com/office/powerpoint/2010/main" val="2008199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Title Slide">
  <p:cSld name="1-Title Slide">
    <p:bg>
      <p:bgPr>
        <a:blipFill>
          <a:blip r:embed="rId2">
            <a:alphaModFix/>
          </a:blip>
          <a:stretch>
            <a:fillRect/>
          </a:stretch>
        </a:blipFill>
        <a:effectLst/>
      </p:bgPr>
    </p:bg>
    <p:spTree>
      <p:nvGrpSpPr>
        <p:cNvPr id="1" name="Shape 15"/>
        <p:cNvGrpSpPr/>
        <p:nvPr/>
      </p:nvGrpSpPr>
      <p:grpSpPr>
        <a:xfrm>
          <a:off x="0" y="0"/>
          <a:ext cx="0" cy="0"/>
          <a:chOff x="0" y="0"/>
          <a:chExt cx="0" cy="0"/>
        </a:xfrm>
      </p:grpSpPr>
    </p:spTree>
    <p:extLst>
      <p:ext uri="{BB962C8B-B14F-4D97-AF65-F5344CB8AC3E}">
        <p14:creationId xmlns:p14="http://schemas.microsoft.com/office/powerpoint/2010/main" val="1410484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Title Slide">
  <p:cSld name="2-Title Slide">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24"/>
          <p:cNvSpPr txBox="1">
            <a:spLocks noGrp="1"/>
          </p:cNvSpPr>
          <p:nvPr>
            <p:ph type="ctrTitle"/>
          </p:nvPr>
        </p:nvSpPr>
        <p:spPr>
          <a:xfrm>
            <a:off x="671384" y="3317788"/>
            <a:ext cx="9144000" cy="17800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4"/>
          <p:cNvSpPr txBox="1">
            <a:spLocks noGrp="1"/>
          </p:cNvSpPr>
          <p:nvPr>
            <p:ph type="subTitle" idx="1"/>
          </p:nvPr>
        </p:nvSpPr>
        <p:spPr>
          <a:xfrm>
            <a:off x="671384" y="5202238"/>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extLst>
      <p:ext uri="{BB962C8B-B14F-4D97-AF65-F5344CB8AC3E}">
        <p14:creationId xmlns:p14="http://schemas.microsoft.com/office/powerpoint/2010/main" val="97203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Orlando">
  <p:cSld name="3-Orlando">
    <p:bg>
      <p:bgPr>
        <a:blipFill>
          <a:blip r:embed="rId2">
            <a:alphaModFix/>
          </a:blip>
          <a:stretch>
            <a:fillRect/>
          </a:stretch>
        </a:blipFill>
        <a:effectLst/>
      </p:bgPr>
    </p:bg>
    <p:spTree>
      <p:nvGrpSpPr>
        <p:cNvPr id="1" name="Shape 72"/>
        <p:cNvGrpSpPr/>
        <p:nvPr/>
      </p:nvGrpSpPr>
      <p:grpSpPr>
        <a:xfrm>
          <a:off x="0" y="0"/>
          <a:ext cx="0" cy="0"/>
          <a:chOff x="0" y="0"/>
          <a:chExt cx="0" cy="0"/>
        </a:xfrm>
      </p:grpSpPr>
      <p:sp>
        <p:nvSpPr>
          <p:cNvPr id="73" name="Google Shape;73;p42"/>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2"/>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solidFill>
                  <a:schemeClr val="dk1"/>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chemeClr val="dk1"/>
              </a:buClr>
              <a:buSzPts val="1800"/>
              <a:buChar char="•"/>
              <a:defRPr>
                <a:solidFill>
                  <a:schemeClr val="dk1"/>
                </a:solidFill>
              </a:defRPr>
            </a:lvl4pPr>
            <a:lvl5pPr marL="2286000" lvl="4" indent="-342900" algn="l">
              <a:lnSpc>
                <a:spcPct val="90000"/>
              </a:lnSpc>
              <a:spcBef>
                <a:spcPts val="500"/>
              </a:spcBef>
              <a:spcAft>
                <a:spcPts val="0"/>
              </a:spcAft>
              <a:buClr>
                <a:schemeClr val="dk1"/>
              </a:buClr>
              <a:buSzPts val="180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98752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185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693026"/>
          </a:xfrm>
        </p:spPr>
        <p:txBody>
          <a:bodyPr anchor="b">
            <a:normAutofit/>
          </a:bodyPr>
          <a:lstStyle>
            <a:lvl1pPr algn="l">
              <a:defRPr sz="5400">
                <a:solidFill>
                  <a:schemeClr val="bg1"/>
                </a:solidFill>
                <a:latin typeface="Metropolis" pitchFamily="2" charset="77"/>
              </a:defRPr>
            </a:lvl1pPr>
          </a:lstStyle>
          <a:p>
            <a:r>
              <a:rPr lang="en-US"/>
              <a:t>Click to edit Master title style</a:t>
            </a:r>
          </a:p>
        </p:txBody>
      </p:sp>
      <p:sp>
        <p:nvSpPr>
          <p:cNvPr id="3" name="Subtitle 2"/>
          <p:cNvSpPr>
            <a:spLocks noGrp="1"/>
          </p:cNvSpPr>
          <p:nvPr>
            <p:ph type="subTitle" idx="1"/>
          </p:nvPr>
        </p:nvSpPr>
        <p:spPr>
          <a:xfrm>
            <a:off x="1499937" y="3096711"/>
            <a:ext cx="9144000" cy="753394"/>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8029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9092846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0283705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829464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7330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03085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422016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52984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397237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225477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044629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BEE11-F3C3-443D-7920-F3B6537D60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09E22A-869C-E1E3-3BC6-6EC860506A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912968-699C-D3FC-5B5C-3A895F8A23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94A229-023C-4B5A-A24C-C04FA79CD2ED}" type="datetimeFigureOut">
              <a:rPr lang="en-US" smtClean="0"/>
              <a:t>10/18/2026</a:t>
            </a:fld>
            <a:endParaRPr lang="en-US"/>
          </a:p>
        </p:txBody>
      </p:sp>
      <p:sp>
        <p:nvSpPr>
          <p:cNvPr id="5" name="Footer Placeholder 4">
            <a:extLst>
              <a:ext uri="{FF2B5EF4-FFF2-40B4-BE49-F238E27FC236}">
                <a16:creationId xmlns:a16="http://schemas.microsoft.com/office/drawing/2014/main" id="{402C8D3B-E268-F945-22EC-7EE5730236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375B2F-9885-E448-5C67-1E1AE2F06F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4EC98E-CE2C-43EE-80C1-3184AD77C0A1}" type="slidenum">
              <a:rPr lang="en-US" smtClean="0"/>
              <a:t>‹#›</a:t>
            </a:fld>
            <a:endParaRPr lang="en-US"/>
          </a:p>
        </p:txBody>
      </p:sp>
    </p:spTree>
    <p:extLst>
      <p:ext uri="{BB962C8B-B14F-4D97-AF65-F5344CB8AC3E}">
        <p14:creationId xmlns:p14="http://schemas.microsoft.com/office/powerpoint/2010/main" val="111592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75749722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l" defTabSz="914400" rtl="0" eaLnBrk="1" latinLnBrk="0" hangingPunct="1">
        <a:lnSpc>
          <a:spcPct val="90000"/>
        </a:lnSpc>
        <a:spcBef>
          <a:spcPct val="0"/>
        </a:spcBef>
        <a:buNone/>
        <a:defRPr sz="4400" kern="1200">
          <a:solidFill>
            <a:schemeClr val="tx1"/>
          </a:solidFill>
          <a:latin typeface="Metropolis"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etropoli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tropoli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tropoli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tropoli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tropoli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4.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4.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4.xml"/><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9.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0.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hyperlink" Target="https://cafqdn/certsrv" TargetMode="External"/><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4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png"/><Relationship Id="rId7"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4.xml"/><Relationship Id="rId6" Type="http://schemas.openxmlformats.org/officeDocument/2006/relationships/hyperlink" Target="https://www.linkedin.com/in/russhamker/" TargetMode="External"/><Relationship Id="rId5" Type="http://schemas.openxmlformats.org/officeDocument/2006/relationships/image" Target="../media/image45.png"/><Relationship Id="rId4" Type="http://schemas.openxmlformats.org/officeDocument/2006/relationships/hyperlink" Target="https://github.com/butch7903"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www.vmug.com/" TargetMode="External"/><Relationship Id="rId1" Type="http://schemas.openxmlformats.org/officeDocument/2006/relationships/slideLayout" Target="../slideLayouts/slideLayout16.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2" name="Google Shape;146;p3">
            <a:extLst>
              <a:ext uri="{FF2B5EF4-FFF2-40B4-BE49-F238E27FC236}">
                <a16:creationId xmlns:a16="http://schemas.microsoft.com/office/drawing/2014/main" id="{17CF6EB9-3BE2-30F7-CB4F-35AADE54F679}"/>
              </a:ext>
            </a:extLst>
          </p:cNvPr>
          <p:cNvSpPr txBox="1"/>
          <p:nvPr/>
        </p:nvSpPr>
        <p:spPr>
          <a:xfrm>
            <a:off x="723839" y="2075417"/>
            <a:ext cx="10177369" cy="2773321"/>
          </a:xfrm>
          <a:prstGeom prst="rect">
            <a:avLst/>
          </a:prstGeom>
          <a:noFill/>
          <a:ln>
            <a:noFill/>
          </a:ln>
        </p:spPr>
        <p:txBody>
          <a:bodyPr spcFirstLastPara="1" wrap="square" lIns="91425" tIns="45700" rIns="91425" bIns="45700" anchor="t" anchorCtr="0">
            <a:noAutofit/>
          </a:bodyPr>
          <a:lstStyle/>
          <a:p>
            <a:pPr>
              <a:lnSpc>
                <a:spcPct val="90000"/>
              </a:lnSpc>
              <a:buClr>
                <a:schemeClr val="lt1"/>
              </a:buClr>
              <a:buSzPts val="5400"/>
            </a:pPr>
            <a:r>
              <a:rPr lang="en-US" sz="5400" b="1" i="0" dirty="0">
                <a:effectLst/>
                <a:latin typeface="Arial" panose="020B0604020202020204" pitchFamily="34" charset="0"/>
                <a:cs typeface="Arial" panose="020B0604020202020204" pitchFamily="34" charset="0"/>
              </a:rPr>
              <a:t>Learn to Create VCF Certificates with PowerShell or Automation</a:t>
            </a:r>
            <a:endParaRPr lang="en-US" dirty="0">
              <a:latin typeface="Arial" panose="020B0604020202020204" pitchFamily="34" charset="0"/>
              <a:cs typeface="Arial" panose="020B0604020202020204" pitchFamily="34" charset="0"/>
            </a:endParaRPr>
          </a:p>
        </p:txBody>
      </p:sp>
      <p:sp>
        <p:nvSpPr>
          <p:cNvPr id="3" name="Google Shape;147;p3">
            <a:extLst>
              <a:ext uri="{FF2B5EF4-FFF2-40B4-BE49-F238E27FC236}">
                <a16:creationId xmlns:a16="http://schemas.microsoft.com/office/drawing/2014/main" id="{709A4631-1F10-3C03-5E24-A76A1EA7E3BB}"/>
              </a:ext>
            </a:extLst>
          </p:cNvPr>
          <p:cNvSpPr/>
          <p:nvPr/>
        </p:nvSpPr>
        <p:spPr>
          <a:xfrm>
            <a:off x="455781" y="2223673"/>
            <a:ext cx="45719" cy="1239672"/>
          </a:xfrm>
          <a:prstGeom prst="rect">
            <a:avLst/>
          </a:prstGeom>
          <a:solidFill>
            <a:srgbClr val="00C1D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 name="Text Placeholder 1">
            <a:extLst>
              <a:ext uri="{FF2B5EF4-FFF2-40B4-BE49-F238E27FC236}">
                <a16:creationId xmlns:a16="http://schemas.microsoft.com/office/drawing/2014/main" id="{06C928D7-9974-406E-58AE-749DC7749BC6}"/>
              </a:ext>
            </a:extLst>
          </p:cNvPr>
          <p:cNvSpPr txBox="1">
            <a:spLocks/>
          </p:cNvSpPr>
          <p:nvPr/>
        </p:nvSpPr>
        <p:spPr>
          <a:xfrm>
            <a:off x="723839" y="5182704"/>
            <a:ext cx="6062978" cy="3556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1600" dirty="0">
                <a:latin typeface="Arial" panose="020B0604020202020204" pitchFamily="34" charset="0"/>
                <a:cs typeface="Arial" panose="020B0604020202020204" pitchFamily="34" charset="0"/>
              </a:rPr>
              <a:t>Enterprise VMware Architect - Dish</a:t>
            </a:r>
          </a:p>
        </p:txBody>
      </p:sp>
      <p:sp>
        <p:nvSpPr>
          <p:cNvPr id="5" name="Text Placeholder 2">
            <a:extLst>
              <a:ext uri="{FF2B5EF4-FFF2-40B4-BE49-F238E27FC236}">
                <a16:creationId xmlns:a16="http://schemas.microsoft.com/office/drawing/2014/main" id="{9050DEB5-1228-C9CF-0C6D-5D612263F599}"/>
              </a:ext>
            </a:extLst>
          </p:cNvPr>
          <p:cNvSpPr txBox="1">
            <a:spLocks/>
          </p:cNvSpPr>
          <p:nvPr/>
        </p:nvSpPr>
        <p:spPr>
          <a:xfrm>
            <a:off x="810882" y="4720999"/>
            <a:ext cx="5803563" cy="35560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Arial" panose="020B0604020202020204" pitchFamily="34" charset="0"/>
                <a:cs typeface="Arial" panose="020B0604020202020204" pitchFamily="34" charset="0"/>
              </a:rPr>
              <a:t>Russell Hamker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9"/>
                </a:solidFill>
                <a:latin typeface="Arial" panose="020B0604020202020204" pitchFamily="34" charset="0"/>
                <a:cs typeface="Arial" panose="020B0604020202020204" pitchFamily="34" charset="0"/>
              </a:rPr>
              <a:t>Intro</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Learn to Create VCF Certificates with PowerShell or Automation</a:t>
            </a:r>
            <a:endParaRPr lang="en-US" dirty="0">
              <a:latin typeface="Arial" panose="020B0604020202020204" pitchFamily="34" charset="0"/>
              <a:cs typeface="Arial" panose="020B0604020202020204" pitchFamily="34" charset="0"/>
            </a:endParaRPr>
          </a:p>
        </p:txBody>
      </p:sp>
      <p:sp>
        <p:nvSpPr>
          <p:cNvPr id="3" name="Content Placeholder 6">
            <a:extLst>
              <a:ext uri="{FF2B5EF4-FFF2-40B4-BE49-F238E27FC236}">
                <a16:creationId xmlns:a16="http://schemas.microsoft.com/office/drawing/2014/main" id="{4C98CAE3-D274-1511-EE79-098F323DC4C6}"/>
              </a:ext>
            </a:extLst>
          </p:cNvPr>
          <p:cNvSpPr txBox="1">
            <a:spLocks/>
          </p:cNvSpPr>
          <p:nvPr/>
        </p:nvSpPr>
        <p:spPr>
          <a:xfrm>
            <a:off x="3060441" y="1600201"/>
            <a:ext cx="8528864" cy="4572000"/>
          </a:xfrm>
          <a:prstGeom prst="rect">
            <a:avLst/>
          </a:prstGeom>
        </p:spPr>
        <p:txBody>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buFont typeface="Arial" panose="020B0604020202020204" pitchFamily="34" charset="0"/>
              <a:buNone/>
            </a:pPr>
            <a:r>
              <a:rPr lang="en-US" sz="1800" dirty="0">
                <a:latin typeface="Arial" panose="020B0604020202020204" pitchFamily="34" charset="0"/>
                <a:cs typeface="Arial" panose="020B0604020202020204" pitchFamily="34" charset="0"/>
              </a:rPr>
              <a:t>About Me:</a:t>
            </a:r>
          </a:p>
          <a:p>
            <a:pPr lvl="1" indent="0">
              <a:buFont typeface="Arial" panose="020B0604020202020204" pitchFamily="34" charset="0"/>
              <a:buNone/>
            </a:pPr>
            <a:r>
              <a:rPr lang="en-US" dirty="0">
                <a:latin typeface="Arial" panose="020B0604020202020204" pitchFamily="34" charset="0"/>
                <a:cs typeface="Arial" panose="020B0604020202020204" pitchFamily="34" charset="0"/>
              </a:rPr>
              <a:t>Russell Hamker</a:t>
            </a:r>
          </a:p>
          <a:p>
            <a:pPr marL="1087438" lvl="2" indent="-342900">
              <a:buFont typeface="Arial" panose="020B0604020202020204" pitchFamily="34" charset="0"/>
              <a:buChar char="•"/>
            </a:pPr>
            <a:r>
              <a:rPr lang="en-US" sz="1800" dirty="0">
                <a:latin typeface="Arial" panose="020B0604020202020204" pitchFamily="34" charset="0"/>
                <a:cs typeface="Arial" panose="020B0604020202020204" pitchFamily="34" charset="0"/>
              </a:rPr>
              <a:t>17+ years Running VMware</a:t>
            </a:r>
          </a:p>
          <a:p>
            <a:pPr marL="1087438" lvl="2" indent="-342900">
              <a:buFont typeface="Arial" panose="020B0604020202020204" pitchFamily="34" charset="0"/>
              <a:buChar char="•"/>
            </a:pPr>
            <a:r>
              <a:rPr lang="en-US" sz="1800" dirty="0">
                <a:latin typeface="Arial" panose="020B0604020202020204" pitchFamily="34" charset="0"/>
                <a:cs typeface="Arial" panose="020B0604020202020204" pitchFamily="34" charset="0"/>
              </a:rPr>
              <a:t>VCP-VCF 9.0, VCP-VMC 2023,VCAP-DCV 2022, VCP-DCV 5-2022</a:t>
            </a:r>
          </a:p>
          <a:p>
            <a:pPr marL="1087438" lvl="2" indent="-342900">
              <a:buFont typeface="Arial" panose="020B0604020202020204" pitchFamily="34" charset="0"/>
              <a:buChar char="•"/>
            </a:pPr>
            <a:r>
              <a:rPr lang="en-US" sz="1800" dirty="0">
                <a:latin typeface="Arial" panose="020B0604020202020204" pitchFamily="34" charset="0"/>
                <a:cs typeface="Arial" panose="020B0604020202020204" pitchFamily="34" charset="0"/>
              </a:rPr>
              <a:t>Employer – Dish Wireless</a:t>
            </a:r>
          </a:p>
          <a:p>
            <a:pPr marL="1087438" lvl="2" indent="-342900">
              <a:buFont typeface="Arial" panose="020B0604020202020204" pitchFamily="34" charset="0"/>
              <a:buChar char="•"/>
            </a:pPr>
            <a:r>
              <a:rPr lang="en-US" sz="1800" dirty="0">
                <a:latin typeface="Arial" panose="020B0604020202020204" pitchFamily="34" charset="0"/>
                <a:cs typeface="Arial" panose="020B0604020202020204" pitchFamily="34" charset="0"/>
              </a:rPr>
              <a:t>Title – VMware Enterprise Architect</a:t>
            </a:r>
          </a:p>
          <a:p>
            <a:pPr marL="1087438" lvl="2" indent="-342900">
              <a:buFont typeface="Arial" panose="020B0604020202020204" pitchFamily="34" charset="0"/>
              <a:buChar char="•"/>
            </a:pPr>
            <a:r>
              <a:rPr lang="en-US" sz="1800" dirty="0" err="1">
                <a:latin typeface="Arial" panose="020B0604020202020204" pitchFamily="34" charset="0"/>
                <a:cs typeface="Arial" panose="020B0604020202020204" pitchFamily="34" charset="0"/>
              </a:rPr>
              <a:t>vExpert</a:t>
            </a:r>
            <a:r>
              <a:rPr lang="en-US" sz="1800" dirty="0">
                <a:latin typeface="Arial" panose="020B0604020202020204" pitchFamily="34" charset="0"/>
                <a:cs typeface="Arial" panose="020B0604020202020204" pitchFamily="34" charset="0"/>
              </a:rPr>
              <a:t> Pro – 11+ years and running</a:t>
            </a:r>
          </a:p>
          <a:p>
            <a:pPr marL="1087438" lvl="2" indent="-342900">
              <a:buFont typeface="Arial" panose="020B0604020202020204" pitchFamily="34" charset="0"/>
              <a:buChar char="•"/>
            </a:pPr>
            <a:r>
              <a:rPr lang="en-US" sz="1800" dirty="0">
                <a:latin typeface="Arial" panose="020B0604020202020204" pitchFamily="34" charset="0"/>
                <a:cs typeface="Arial" panose="020B0604020202020204" pitchFamily="34" charset="0"/>
              </a:rPr>
              <a:t>VMUG Leader – Wichita KS</a:t>
            </a:r>
          </a:p>
          <a:p>
            <a:pPr marL="1087438" lvl="2" indent="-342900">
              <a:buFont typeface="Arial" panose="020B0604020202020204" pitchFamily="34" charset="0"/>
              <a:buChar char="•"/>
            </a:pPr>
            <a:r>
              <a:rPr lang="en-US" sz="1800" dirty="0">
                <a:latin typeface="Arial" panose="020B0604020202020204" pitchFamily="34" charset="0"/>
                <a:cs typeface="Arial" panose="020B0604020202020204" pitchFamily="34" charset="0"/>
              </a:rPr>
              <a:t>Twitter - @butch7903</a:t>
            </a:r>
          </a:p>
          <a:p>
            <a:pPr marL="1087438" lvl="2" indent="-342900">
              <a:buFont typeface="Arial" panose="020B0604020202020204" pitchFamily="34" charset="0"/>
              <a:buChar char="•"/>
            </a:pPr>
            <a:r>
              <a:rPr lang="en-US" sz="1800" dirty="0">
                <a:latin typeface="Arial" panose="020B0604020202020204" pitchFamily="34" charset="0"/>
                <a:cs typeface="Arial" panose="020B0604020202020204" pitchFamily="34" charset="0"/>
              </a:rPr>
              <a:t>Tanzu Vanguard</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7C38FF7F-CB8F-A0BC-D262-C3AF0EA350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284" y="1403134"/>
            <a:ext cx="2053404" cy="20534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Overview</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t>This presentation is about securing your VMware Environment using Certificates </a:t>
            </a:r>
          </a:p>
          <a:p>
            <a:pPr marL="228600" lvl="0" indent="-50800" algn="l" rtl="0">
              <a:lnSpc>
                <a:spcPct val="90000"/>
              </a:lnSpc>
              <a:spcBef>
                <a:spcPts val="0"/>
              </a:spcBef>
              <a:spcAft>
                <a:spcPts val="0"/>
              </a:spcAft>
              <a:buClr>
                <a:schemeClr val="dk1"/>
              </a:buClr>
              <a:buSzPts val="2800"/>
              <a:buNone/>
            </a:pPr>
            <a:endParaRPr lang="en-US" dirty="0"/>
          </a:p>
          <a:p>
            <a:pPr marL="228600" lvl="0" indent="-50800" algn="l" rtl="0">
              <a:lnSpc>
                <a:spcPct val="90000"/>
              </a:lnSpc>
              <a:spcBef>
                <a:spcPts val="0"/>
              </a:spcBef>
              <a:spcAft>
                <a:spcPts val="0"/>
              </a:spcAft>
              <a:buClr>
                <a:schemeClr val="dk1"/>
              </a:buClr>
              <a:buSzPts val="2800"/>
              <a:buNone/>
            </a:pPr>
            <a:r>
              <a:rPr lang="en-US" dirty="0"/>
              <a:t>Use my PowerShell scripting to make this fast and easy! </a:t>
            </a:r>
          </a:p>
          <a:p>
            <a:pPr marL="228600" lvl="0" indent="-50800" algn="l" rtl="0">
              <a:lnSpc>
                <a:spcPct val="90000"/>
              </a:lnSpc>
              <a:spcBef>
                <a:spcPts val="0"/>
              </a:spcBef>
              <a:spcAft>
                <a:spcPts val="0"/>
              </a:spcAft>
              <a:buClr>
                <a:schemeClr val="dk1"/>
              </a:buClr>
              <a:buSzPts val="2800"/>
              <a:buNone/>
            </a:pPr>
            <a:endParaRPr lang="en-US" dirty="0"/>
          </a:p>
          <a:p>
            <a:pPr marL="228600" lvl="0" indent="-50800" algn="l" rtl="0">
              <a:lnSpc>
                <a:spcPct val="90000"/>
              </a:lnSpc>
              <a:spcBef>
                <a:spcPts val="0"/>
              </a:spcBef>
              <a:spcAft>
                <a:spcPts val="0"/>
              </a:spcAft>
              <a:buClr>
                <a:schemeClr val="dk1"/>
              </a:buClr>
              <a:buSzPts val="2800"/>
              <a:buNone/>
            </a:pPr>
            <a:r>
              <a:rPr lang="en-US" dirty="0"/>
              <a:t>VCF Operations can now create certificates to do this via Automation.</a:t>
            </a:r>
          </a:p>
          <a:p>
            <a:pPr marL="228600" lvl="0" indent="-50800" algn="l" rtl="0">
              <a:lnSpc>
                <a:spcPct val="90000"/>
              </a:lnSpc>
              <a:spcBef>
                <a:spcPts val="0"/>
              </a:spcBef>
              <a:spcAft>
                <a:spcPts val="0"/>
              </a:spcAft>
              <a:buClr>
                <a:schemeClr val="dk1"/>
              </a:buClr>
              <a:buSzPts val="2800"/>
              <a:buNone/>
            </a:pPr>
            <a:endParaRPr lang="en-US"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9122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SSL</a:t>
            </a:r>
          </a:p>
        </p:txBody>
      </p:sp>
      <p:sp>
        <p:nvSpPr>
          <p:cNvPr id="179" name="Google Shape;179;p20"/>
          <p:cNvSpPr txBox="1">
            <a:spLocks noGrp="1"/>
          </p:cNvSpPr>
          <p:nvPr>
            <p:ph type="body" idx="1"/>
          </p:nvPr>
        </p:nvSpPr>
        <p:spPr>
          <a:xfrm>
            <a:off x="358345" y="1768414"/>
            <a:ext cx="11454713" cy="3843741"/>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sz="2400" b="1" dirty="0"/>
              <a:t>SSL:</a:t>
            </a:r>
            <a:r>
              <a:rPr lang="en-US" sz="2400" dirty="0"/>
              <a:t> Secure Sockets Layer</a:t>
            </a:r>
          </a:p>
          <a:p>
            <a:pPr marL="228600" lvl="0" indent="-50800" algn="l" rtl="0">
              <a:lnSpc>
                <a:spcPct val="90000"/>
              </a:lnSpc>
              <a:spcBef>
                <a:spcPts val="0"/>
              </a:spcBef>
              <a:spcAft>
                <a:spcPts val="0"/>
              </a:spcAft>
              <a:buClr>
                <a:schemeClr val="dk1"/>
              </a:buClr>
              <a:buSzPts val="2800"/>
              <a:buNone/>
            </a:pPr>
            <a:endParaRPr lang="en-US" sz="2400" dirty="0"/>
          </a:p>
          <a:p>
            <a:pPr marL="228600" lvl="0" indent="-50800" algn="l" rtl="0">
              <a:lnSpc>
                <a:spcPct val="90000"/>
              </a:lnSpc>
              <a:spcBef>
                <a:spcPts val="0"/>
              </a:spcBef>
              <a:spcAft>
                <a:spcPts val="0"/>
              </a:spcAft>
              <a:buClr>
                <a:schemeClr val="dk1"/>
              </a:buClr>
              <a:buSzPts val="2800"/>
              <a:buNone/>
            </a:pPr>
            <a:r>
              <a:rPr lang="en-US" sz="2400" dirty="0"/>
              <a:t> It is the global standard security technology that enables encrypted communication between a web browser and an end user. It is utilized by millions of online businesses and individuals to decrease the risk of sensitive information (e.g., credit card numbers, usernames, passwords, emails, etc.) from being stolen or tampered with by hackers and identity thieves. In essence, SSL allows for a private “conversation” just between the two intended parties.</a:t>
            </a:r>
          </a:p>
          <a:p>
            <a:pPr marL="228600" lvl="0" indent="-50800" algn="l" rtl="0">
              <a:lnSpc>
                <a:spcPct val="90000"/>
              </a:lnSpc>
              <a:spcBef>
                <a:spcPts val="0"/>
              </a:spcBef>
              <a:spcAft>
                <a:spcPts val="0"/>
              </a:spcAft>
              <a:buClr>
                <a:schemeClr val="dk1"/>
              </a:buClr>
              <a:buSzPts val="2800"/>
              <a:buNone/>
            </a:pPr>
            <a:endParaRPr sz="2400"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2412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Why Use SSL Certificates</a:t>
            </a:r>
          </a:p>
        </p:txBody>
      </p:sp>
      <p:sp>
        <p:nvSpPr>
          <p:cNvPr id="179" name="Google Shape;179;p20"/>
          <p:cNvSpPr txBox="1">
            <a:spLocks noGrp="1"/>
          </p:cNvSpPr>
          <p:nvPr>
            <p:ph type="body" idx="1"/>
          </p:nvPr>
        </p:nvSpPr>
        <p:spPr>
          <a:xfrm>
            <a:off x="358345" y="1992702"/>
            <a:ext cx="11454713" cy="3619454"/>
          </a:xfrm>
          <a:prstGeom prst="rect">
            <a:avLst/>
          </a:prstGeom>
          <a:noFill/>
          <a:ln>
            <a:noFill/>
          </a:ln>
        </p:spPr>
        <p:txBody>
          <a:bodyPr spcFirstLastPara="1" wrap="square" lIns="91425" tIns="45700" rIns="91425" bIns="45700" anchor="t" anchorCtr="0">
            <a:normAutofit/>
          </a:bodyPr>
          <a:lstStyle/>
          <a:p>
            <a:pPr marL="692150" lvl="0" indent="-514350" algn="l" rtl="0">
              <a:lnSpc>
                <a:spcPct val="90000"/>
              </a:lnSpc>
              <a:spcBef>
                <a:spcPts val="0"/>
              </a:spcBef>
              <a:spcAft>
                <a:spcPts val="0"/>
              </a:spcAft>
              <a:buClr>
                <a:schemeClr val="dk1"/>
              </a:buClr>
              <a:buSzPts val="2800"/>
              <a:buFont typeface="+mj-lt"/>
              <a:buAutoNum type="arabicPeriod"/>
            </a:pPr>
            <a:r>
              <a:rPr lang="en-US" dirty="0"/>
              <a:t>SSL Protects Data</a:t>
            </a:r>
          </a:p>
          <a:p>
            <a:pPr marL="692150" lvl="0" indent="-514350" algn="l" rtl="0">
              <a:lnSpc>
                <a:spcPct val="90000"/>
              </a:lnSpc>
              <a:spcBef>
                <a:spcPts val="0"/>
              </a:spcBef>
              <a:spcAft>
                <a:spcPts val="0"/>
              </a:spcAft>
              <a:buClr>
                <a:schemeClr val="dk1"/>
              </a:buClr>
              <a:buSzPts val="2800"/>
              <a:buFont typeface="+mj-lt"/>
              <a:buAutoNum type="arabicPeriod"/>
            </a:pPr>
            <a:r>
              <a:rPr lang="en-US" dirty="0"/>
              <a:t>SSL Affirms Your Identity</a:t>
            </a:r>
          </a:p>
          <a:p>
            <a:pPr marL="692150" lvl="0" indent="-514350" algn="l" rtl="0">
              <a:lnSpc>
                <a:spcPct val="90000"/>
              </a:lnSpc>
              <a:spcBef>
                <a:spcPts val="0"/>
              </a:spcBef>
              <a:spcAft>
                <a:spcPts val="0"/>
              </a:spcAft>
              <a:buClr>
                <a:schemeClr val="dk1"/>
              </a:buClr>
              <a:buSzPts val="2800"/>
              <a:buFont typeface="+mj-lt"/>
              <a:buAutoNum type="arabicPeriod"/>
            </a:pPr>
            <a:r>
              <a:rPr lang="en-US" dirty="0"/>
              <a:t>SSL Helps you Satisfy PCI/DSS Requirements</a:t>
            </a:r>
          </a:p>
          <a:p>
            <a:pPr marL="692150" lvl="0" indent="-514350" algn="l" rtl="0">
              <a:lnSpc>
                <a:spcPct val="90000"/>
              </a:lnSpc>
              <a:spcBef>
                <a:spcPts val="0"/>
              </a:spcBef>
              <a:spcAft>
                <a:spcPts val="0"/>
              </a:spcAft>
              <a:buClr>
                <a:schemeClr val="dk1"/>
              </a:buClr>
              <a:buSzPts val="2800"/>
              <a:buFont typeface="+mj-lt"/>
              <a:buAutoNum type="arabicPeriod"/>
            </a:pPr>
            <a:r>
              <a:rPr lang="en-US" dirty="0"/>
              <a:t>SSL Improves Customer Trust</a:t>
            </a:r>
          </a:p>
          <a:p>
            <a:pPr marL="228600" lvl="0" indent="-5080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9093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Details about the Certificate Process</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pic>
        <p:nvPicPr>
          <p:cNvPr id="3" name="Picture 4" descr="What is ssl certificate">
            <a:extLst>
              <a:ext uri="{FF2B5EF4-FFF2-40B4-BE49-F238E27FC236}">
                <a16:creationId xmlns:a16="http://schemas.microsoft.com/office/drawing/2014/main" id="{73BD127D-88D1-C0F5-AB0A-82535B2103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76" y="1118500"/>
            <a:ext cx="11982450" cy="4657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497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2800" dirty="0">
                <a:solidFill>
                  <a:srgbClr val="1D428A"/>
                </a:solidFill>
                <a:latin typeface="Arial" panose="020B0604020202020204" pitchFamily="34" charset="0"/>
                <a:cs typeface="Arial" panose="020B0604020202020204" pitchFamily="34" charset="0"/>
              </a:rPr>
              <a:t>What are we trying to accomplish?</a:t>
            </a:r>
          </a:p>
        </p:txBody>
      </p:sp>
      <p:sp>
        <p:nvSpPr>
          <p:cNvPr id="179" name="Google Shape;179;p20"/>
          <p:cNvSpPr txBox="1">
            <a:spLocks noGrp="1"/>
          </p:cNvSpPr>
          <p:nvPr>
            <p:ph type="body" idx="1"/>
          </p:nvPr>
        </p:nvSpPr>
        <p:spPr>
          <a:xfrm>
            <a:off x="358345" y="1118500"/>
            <a:ext cx="11454713" cy="4493656"/>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latin typeface="Arial" panose="020B0604020202020204" pitchFamily="34" charset="0"/>
                <a:cs typeface="Arial" panose="020B0604020202020204" pitchFamily="34" charset="0"/>
              </a:rPr>
              <a:t>Go From This:                                                  To This: </a:t>
            </a:r>
            <a:endParaRPr dirty="0">
              <a:latin typeface="Arial" panose="020B0604020202020204" pitchFamily="34" charset="0"/>
              <a:cs typeface="Arial" panose="020B0604020202020204" pitchFamily="34" charset="0"/>
            </a:endParaRPr>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14444DE-EA22-5522-4A55-1E4AD35BE3BE}"/>
              </a:ext>
            </a:extLst>
          </p:cNvPr>
          <p:cNvPicPr>
            <a:picLocks noChangeAspect="1"/>
          </p:cNvPicPr>
          <p:nvPr/>
        </p:nvPicPr>
        <p:blipFill>
          <a:blip r:embed="rId3"/>
          <a:stretch>
            <a:fillRect/>
          </a:stretch>
        </p:blipFill>
        <p:spPr>
          <a:xfrm>
            <a:off x="6096000" y="1606880"/>
            <a:ext cx="5696745" cy="4172532"/>
          </a:xfrm>
          <a:prstGeom prst="rect">
            <a:avLst/>
          </a:prstGeom>
        </p:spPr>
      </p:pic>
      <p:pic>
        <p:nvPicPr>
          <p:cNvPr id="5" name="Picture 4">
            <a:extLst>
              <a:ext uri="{FF2B5EF4-FFF2-40B4-BE49-F238E27FC236}">
                <a16:creationId xmlns:a16="http://schemas.microsoft.com/office/drawing/2014/main" id="{5C3A7BC0-E194-1658-CD22-4FF8E04174D7}"/>
              </a:ext>
            </a:extLst>
          </p:cNvPr>
          <p:cNvPicPr>
            <a:picLocks noChangeAspect="1"/>
          </p:cNvPicPr>
          <p:nvPr/>
        </p:nvPicPr>
        <p:blipFill>
          <a:blip r:embed="rId4"/>
          <a:stretch>
            <a:fillRect/>
          </a:stretch>
        </p:blipFill>
        <p:spPr>
          <a:xfrm>
            <a:off x="216302" y="1652640"/>
            <a:ext cx="6082787" cy="3829903"/>
          </a:xfrm>
          <a:prstGeom prst="rect">
            <a:avLst/>
          </a:prstGeom>
        </p:spPr>
      </p:pic>
    </p:spTree>
    <p:extLst>
      <p:ext uri="{BB962C8B-B14F-4D97-AF65-F5344CB8AC3E}">
        <p14:creationId xmlns:p14="http://schemas.microsoft.com/office/powerpoint/2010/main" val="2802373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Methods to Create Certificates</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latin typeface="Arial" panose="020B0604020202020204" pitchFamily="34" charset="0"/>
                <a:cs typeface="Arial" panose="020B0604020202020204" pitchFamily="34" charset="0"/>
              </a:rPr>
              <a:t>SSL Server Types</a:t>
            </a:r>
          </a:p>
          <a:p>
            <a:pPr marL="228600" lvl="0" indent="-50800" algn="l" rtl="0">
              <a:lnSpc>
                <a:spcPct val="90000"/>
              </a:lnSpc>
              <a:spcBef>
                <a:spcPts val="0"/>
              </a:spcBef>
              <a:spcAft>
                <a:spcPts val="0"/>
              </a:spcAft>
              <a:buClr>
                <a:schemeClr val="dk1"/>
              </a:buClr>
              <a:buSzPts val="2800"/>
              <a:buNone/>
            </a:pPr>
            <a:r>
              <a:rPr lang="en-US" sz="2400" dirty="0">
                <a:latin typeface="Arial" panose="020B0604020202020204" pitchFamily="34" charset="0"/>
                <a:cs typeface="Arial" panose="020B0604020202020204" pitchFamily="34" charset="0"/>
              </a:rPr>
              <a:t>Internal:</a:t>
            </a:r>
          </a:p>
          <a:p>
            <a:pPr marL="1092200" lvl="1" indent="-457200">
              <a:spcBef>
                <a:spcPts val="0"/>
              </a:spcBef>
              <a:buSzPts val="2800"/>
            </a:pPr>
            <a:r>
              <a:rPr lang="en-US" sz="2000" dirty="0">
                <a:latin typeface="Arial" panose="020B0604020202020204" pitchFamily="34" charset="0"/>
                <a:cs typeface="Arial" panose="020B0604020202020204" pitchFamily="34" charset="0"/>
              </a:rPr>
              <a:t>Microsoft CA</a:t>
            </a:r>
          </a:p>
          <a:p>
            <a:pPr marL="1092200" lvl="1" indent="-457200">
              <a:spcBef>
                <a:spcPts val="0"/>
              </a:spcBef>
              <a:buSzPts val="2800"/>
            </a:pPr>
            <a:r>
              <a:rPr lang="en-US" sz="2000" dirty="0">
                <a:latin typeface="Arial" panose="020B0604020202020204" pitchFamily="34" charset="0"/>
                <a:cs typeface="Arial" panose="020B0604020202020204" pitchFamily="34" charset="0"/>
              </a:rPr>
              <a:t>Linux CA</a:t>
            </a:r>
          </a:p>
          <a:p>
            <a:pPr marL="228600" lvl="0" indent="-50800" algn="l" rtl="0">
              <a:lnSpc>
                <a:spcPct val="90000"/>
              </a:lnSpc>
              <a:spcBef>
                <a:spcPts val="0"/>
              </a:spcBef>
              <a:spcAft>
                <a:spcPts val="0"/>
              </a:spcAft>
              <a:buClr>
                <a:schemeClr val="dk1"/>
              </a:buClr>
              <a:buSzPts val="2800"/>
              <a:buNone/>
            </a:pPr>
            <a:r>
              <a:rPr lang="en-US" sz="2400" dirty="0">
                <a:latin typeface="Arial" panose="020B0604020202020204" pitchFamily="34" charset="0"/>
                <a:cs typeface="Arial" panose="020B0604020202020204" pitchFamily="34" charset="0"/>
              </a:rPr>
              <a:t>External:</a:t>
            </a:r>
          </a:p>
          <a:p>
            <a:pPr marL="1149350" lvl="1" indent="-514350">
              <a:spcBef>
                <a:spcPts val="0"/>
              </a:spcBef>
              <a:buSzPts val="2800"/>
            </a:pPr>
            <a:r>
              <a:rPr lang="en-US" sz="2000" dirty="0">
                <a:latin typeface="Arial" panose="020B0604020202020204" pitchFamily="34" charset="0"/>
                <a:cs typeface="Arial" panose="020B0604020202020204" pitchFamily="34" charset="0"/>
              </a:rPr>
              <a:t>Hosted CA</a:t>
            </a:r>
          </a:p>
          <a:p>
            <a:pPr marL="1149350" lvl="1" indent="-514350">
              <a:spcBef>
                <a:spcPts val="0"/>
              </a:spcBef>
              <a:buSzPts val="2800"/>
            </a:pPr>
            <a:endParaRPr lang="en-US" sz="2000" dirty="0">
              <a:latin typeface="Arial" panose="020B0604020202020204" pitchFamily="34" charset="0"/>
              <a:cs typeface="Arial" panose="020B0604020202020204" pitchFamily="34" charset="0"/>
            </a:endParaRPr>
          </a:p>
          <a:p>
            <a:pPr marL="635000" lvl="1" indent="0">
              <a:spcBef>
                <a:spcPts val="0"/>
              </a:spcBef>
              <a:buSzPts val="2800"/>
              <a:buNone/>
            </a:pPr>
            <a:endParaRPr lang="en-US" dirty="0">
              <a:latin typeface="Arial" panose="020B0604020202020204" pitchFamily="34" charset="0"/>
              <a:cs typeface="Arial" panose="020B0604020202020204" pitchFamily="34" charset="0"/>
            </a:endParaRPr>
          </a:p>
          <a:p>
            <a:pPr marL="228600" lvl="0" indent="-50800" algn="l" rtl="0">
              <a:lnSpc>
                <a:spcPct val="90000"/>
              </a:lnSpc>
              <a:spcBef>
                <a:spcPts val="0"/>
              </a:spcBef>
              <a:spcAft>
                <a:spcPts val="0"/>
              </a:spcAft>
              <a:buClr>
                <a:schemeClr val="dk1"/>
              </a:buClr>
              <a:buSzPts val="2800"/>
              <a:buNone/>
            </a:pPr>
            <a:r>
              <a:rPr lang="en-US" dirty="0">
                <a:latin typeface="Arial" panose="020B0604020202020204" pitchFamily="34" charset="0"/>
                <a:cs typeface="Arial" panose="020B0604020202020204" pitchFamily="34" charset="0"/>
              </a:rPr>
              <a:t>Methods to Make a SSL Certificate:</a:t>
            </a:r>
          </a:p>
          <a:p>
            <a:pPr marL="635000" indent="-457200">
              <a:spcBef>
                <a:spcPts val="0"/>
              </a:spcBef>
            </a:pPr>
            <a:r>
              <a:rPr lang="en-US" sz="2000" dirty="0">
                <a:latin typeface="Arial" panose="020B0604020202020204" pitchFamily="34" charset="0"/>
                <a:cs typeface="Arial" panose="020B0604020202020204" pitchFamily="34" charset="0"/>
              </a:rPr>
              <a:t>Use a Microsoft MMC/CA Website/PowerShell</a:t>
            </a:r>
          </a:p>
          <a:p>
            <a:pPr marL="635000" indent="-457200">
              <a:spcBef>
                <a:spcPts val="0"/>
              </a:spcBef>
            </a:pPr>
            <a:r>
              <a:rPr lang="en-US" sz="2000" dirty="0">
                <a:latin typeface="Arial" panose="020B0604020202020204" pitchFamily="34" charset="0"/>
                <a:cs typeface="Arial" panose="020B0604020202020204" pitchFamily="34" charset="0"/>
              </a:rPr>
              <a:t>OpenSSL</a:t>
            </a:r>
          </a:p>
          <a:p>
            <a:pPr marL="635000" indent="-457200">
              <a:spcBef>
                <a:spcPts val="0"/>
              </a:spcBef>
            </a:pPr>
            <a:r>
              <a:rPr lang="en-US" sz="2000" dirty="0">
                <a:latin typeface="Arial" panose="020B0604020202020204" pitchFamily="34" charset="0"/>
                <a:cs typeface="Arial" panose="020B0604020202020204" pitchFamily="34" charset="0"/>
              </a:rPr>
              <a:t>VCF Operations (VMCA or CSR/Remote CA Generation)</a:t>
            </a:r>
          </a:p>
          <a:p>
            <a:pPr marL="228600" lvl="0" indent="-50800" algn="l" rtl="0">
              <a:lnSpc>
                <a:spcPct val="90000"/>
              </a:lnSpc>
              <a:spcBef>
                <a:spcPts val="0"/>
              </a:spcBef>
              <a:spcAft>
                <a:spcPts val="0"/>
              </a:spcAft>
              <a:buClr>
                <a:schemeClr val="dk1"/>
              </a:buClr>
              <a:buSzPts val="2800"/>
              <a:buNone/>
            </a:pPr>
            <a:endParaRPr lang="en-US" dirty="0">
              <a:latin typeface="Arial" panose="020B0604020202020204" pitchFamily="34" charset="0"/>
              <a:cs typeface="Arial" panose="020B0604020202020204" pitchFamily="34" charset="0"/>
            </a:endParaRPr>
          </a:p>
          <a:p>
            <a:pPr marL="228600" lvl="0" indent="-50800" algn="l" rtl="0">
              <a:lnSpc>
                <a:spcPct val="90000"/>
              </a:lnSpc>
              <a:spcBef>
                <a:spcPts val="0"/>
              </a:spcBef>
              <a:spcAft>
                <a:spcPts val="0"/>
              </a:spcAft>
              <a:buClr>
                <a:schemeClr val="dk1"/>
              </a:buClr>
              <a:buSzPts val="2800"/>
              <a:buNone/>
            </a:pPr>
            <a:endParaRPr dirty="0">
              <a:latin typeface="Arial" panose="020B0604020202020204" pitchFamily="34" charset="0"/>
              <a:cs typeface="Arial" panose="020B0604020202020204" pitchFamily="34" charset="0"/>
            </a:endParaRPr>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127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Autofit/>
          </a:bodyPr>
          <a:lstStyle/>
          <a:p>
            <a:r>
              <a:rPr lang="en-US" sz="3200" dirty="0">
                <a:solidFill>
                  <a:srgbClr val="1D428A"/>
                </a:solidFill>
                <a:latin typeface="Arial" panose="020B0604020202020204" pitchFamily="34" charset="0"/>
                <a:cs typeface="Arial" panose="020B0604020202020204" pitchFamily="34" charset="0"/>
              </a:rPr>
              <a:t>How do I see most Companies do VMware Certificates?</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lnSpcReduction="10000"/>
          </a:bodyPr>
          <a:lstStyle/>
          <a:p>
            <a:pPr marL="228600" lvl="0" indent="-50800" algn="l" rtl="0">
              <a:lnSpc>
                <a:spcPct val="90000"/>
              </a:lnSpc>
              <a:spcBef>
                <a:spcPts val="0"/>
              </a:spcBef>
              <a:spcAft>
                <a:spcPts val="0"/>
              </a:spcAft>
              <a:buClr>
                <a:schemeClr val="dk1"/>
              </a:buClr>
              <a:buSzPts val="2800"/>
              <a:buNone/>
            </a:pPr>
            <a:r>
              <a:rPr lang="en-US" sz="2400" dirty="0">
                <a:latin typeface="Arial" panose="020B0604020202020204" pitchFamily="34" charset="0"/>
                <a:cs typeface="Arial" panose="020B0604020202020204" pitchFamily="34" charset="0"/>
              </a:rPr>
              <a:t>I see most company’s deploy a Microsoft Windows CA in a Two Tier Hierarchy.</a:t>
            </a:r>
          </a:p>
          <a:p>
            <a:pPr marL="228600" lvl="0" indent="-50800" algn="l" rtl="0">
              <a:lnSpc>
                <a:spcPct val="90000"/>
              </a:lnSpc>
              <a:spcBef>
                <a:spcPts val="0"/>
              </a:spcBef>
              <a:spcAft>
                <a:spcPts val="0"/>
              </a:spcAft>
              <a:buClr>
                <a:schemeClr val="dk1"/>
              </a:buClr>
              <a:buSzPts val="2800"/>
              <a:buNone/>
            </a:pPr>
            <a:endParaRPr lang="en-US" dirty="0">
              <a:latin typeface="Arial" panose="020B0604020202020204" pitchFamily="34" charset="0"/>
              <a:cs typeface="Arial" panose="020B0604020202020204" pitchFamily="34" charset="0"/>
            </a:endParaRPr>
          </a:p>
          <a:p>
            <a:pPr marL="228600" lvl="0" indent="-50800" algn="l" rtl="0">
              <a:lnSpc>
                <a:spcPct val="90000"/>
              </a:lnSpc>
              <a:spcBef>
                <a:spcPts val="0"/>
              </a:spcBef>
              <a:spcAft>
                <a:spcPts val="0"/>
              </a:spcAft>
              <a:buClr>
                <a:schemeClr val="dk1"/>
              </a:buClr>
              <a:buSzPts val="2800"/>
              <a:buNone/>
            </a:pPr>
            <a:endParaRPr lang="en-US" dirty="0">
              <a:latin typeface="Arial" panose="020B0604020202020204" pitchFamily="34" charset="0"/>
              <a:cs typeface="Arial" panose="020B0604020202020204" pitchFamily="34" charset="0"/>
            </a:endParaRPr>
          </a:p>
          <a:p>
            <a:pPr marL="228600" lvl="0" indent="-50800" algn="l" rtl="0">
              <a:lnSpc>
                <a:spcPct val="90000"/>
              </a:lnSpc>
              <a:spcBef>
                <a:spcPts val="0"/>
              </a:spcBef>
              <a:spcAft>
                <a:spcPts val="0"/>
              </a:spcAft>
              <a:buClr>
                <a:schemeClr val="dk1"/>
              </a:buClr>
              <a:buSzPts val="2800"/>
              <a:buNone/>
            </a:pPr>
            <a:r>
              <a:rPr lang="en-US" sz="2400" dirty="0">
                <a:latin typeface="Arial" panose="020B0604020202020204" pitchFamily="34" charset="0"/>
                <a:cs typeface="Arial" panose="020B0604020202020204" pitchFamily="34" charset="0"/>
              </a:rPr>
              <a:t>Why?</a:t>
            </a:r>
          </a:p>
          <a:p>
            <a:pPr marL="228600" lvl="0" indent="-50800" algn="l" rtl="0">
              <a:lnSpc>
                <a:spcPct val="90000"/>
              </a:lnSpc>
              <a:spcBef>
                <a:spcPts val="0"/>
              </a:spcBef>
              <a:spcAft>
                <a:spcPts val="0"/>
              </a:spcAft>
              <a:buClr>
                <a:schemeClr val="dk1"/>
              </a:buClr>
              <a:buSzPts val="2800"/>
              <a:buNone/>
            </a:pPr>
            <a:endParaRPr lang="en-US" sz="2400" dirty="0">
              <a:latin typeface="Arial" panose="020B0604020202020204" pitchFamily="34" charset="0"/>
              <a:cs typeface="Arial" panose="020B0604020202020204" pitchFamily="34" charset="0"/>
            </a:endParaRPr>
          </a:p>
          <a:p>
            <a:pPr marL="520700" indent="-342900">
              <a:spcBef>
                <a:spcPts val="0"/>
              </a:spcBef>
            </a:pPr>
            <a:r>
              <a:rPr lang="en-US" sz="2400" dirty="0">
                <a:latin typeface="Arial" panose="020B0604020202020204" pitchFamily="34" charset="0"/>
                <a:cs typeface="Arial" panose="020B0604020202020204" pitchFamily="34" charset="0"/>
              </a:rPr>
              <a:t>Integration/enforcement with Active Directory</a:t>
            </a:r>
          </a:p>
          <a:p>
            <a:pPr marL="520700" indent="-342900">
              <a:spcBef>
                <a:spcPts val="0"/>
              </a:spcBef>
            </a:pPr>
            <a:r>
              <a:rPr lang="en-US" sz="2400" dirty="0">
                <a:latin typeface="Arial" panose="020B0604020202020204" pitchFamily="34" charset="0"/>
                <a:cs typeface="Arial" panose="020B0604020202020204" pitchFamily="34" charset="0"/>
              </a:rPr>
              <a:t>Easy to Manage</a:t>
            </a:r>
          </a:p>
          <a:p>
            <a:pPr marL="520700" indent="-342900">
              <a:spcBef>
                <a:spcPts val="0"/>
              </a:spcBef>
            </a:pPr>
            <a:r>
              <a:rPr lang="en-US" sz="2400" dirty="0">
                <a:latin typeface="Arial" panose="020B0604020202020204" pitchFamily="34" charset="0"/>
                <a:cs typeface="Arial" panose="020B0604020202020204" pitchFamily="34" charset="0"/>
              </a:rPr>
              <a:t>Cost is </a:t>
            </a:r>
            <a:r>
              <a:rPr lang="en-US" sz="2400" u="sng" dirty="0">
                <a:latin typeface="Arial" panose="020B0604020202020204" pitchFamily="34" charset="0"/>
                <a:cs typeface="Arial" panose="020B0604020202020204" pitchFamily="34" charset="0"/>
              </a:rPr>
              <a:t>very</a:t>
            </a:r>
            <a:r>
              <a:rPr lang="en-US" sz="2400" dirty="0">
                <a:latin typeface="Arial" panose="020B0604020202020204" pitchFamily="34" charset="0"/>
                <a:cs typeface="Arial" panose="020B0604020202020204" pitchFamily="34" charset="0"/>
              </a:rPr>
              <a:t> low</a:t>
            </a:r>
          </a:p>
          <a:p>
            <a:pPr marL="520700" indent="-342900">
              <a:spcBef>
                <a:spcPts val="0"/>
              </a:spcBef>
            </a:pPr>
            <a:r>
              <a:rPr lang="en-US" sz="2400" dirty="0">
                <a:latin typeface="Arial" panose="020B0604020202020204" pitchFamily="34" charset="0"/>
                <a:cs typeface="Arial" panose="020B0604020202020204" pitchFamily="34" charset="0"/>
              </a:rPr>
              <a:t>Highly secure</a:t>
            </a:r>
          </a:p>
          <a:p>
            <a:pPr marL="520700" indent="-342900">
              <a:spcBef>
                <a:spcPts val="0"/>
              </a:spcBef>
            </a:pPr>
            <a:endParaRPr lang="en-US" sz="2400" dirty="0">
              <a:latin typeface="Arial" panose="020B0604020202020204" pitchFamily="34" charset="0"/>
              <a:cs typeface="Arial" panose="020B0604020202020204" pitchFamily="34" charset="0"/>
            </a:endParaRPr>
          </a:p>
          <a:p>
            <a:pPr marL="177800" indent="0">
              <a:spcBef>
                <a:spcPts val="0"/>
              </a:spcBef>
              <a:buNone/>
            </a:pPr>
            <a:endParaRPr lang="en-US" sz="2400" dirty="0">
              <a:latin typeface="Arial" panose="020B0604020202020204" pitchFamily="34" charset="0"/>
              <a:cs typeface="Arial" panose="020B0604020202020204" pitchFamily="34" charset="0"/>
            </a:endParaRPr>
          </a:p>
          <a:p>
            <a:pPr marL="177800" indent="0">
              <a:spcBef>
                <a:spcPts val="0"/>
              </a:spcBef>
              <a:buNone/>
            </a:pPr>
            <a:endParaRPr lang="en-US" sz="2400" dirty="0">
              <a:latin typeface="Arial" panose="020B0604020202020204" pitchFamily="34" charset="0"/>
              <a:cs typeface="Arial" panose="020B0604020202020204" pitchFamily="34" charset="0"/>
            </a:endParaRPr>
          </a:p>
          <a:p>
            <a:pPr marL="177800" indent="0">
              <a:spcBef>
                <a:spcPts val="0"/>
              </a:spcBef>
              <a:buNone/>
            </a:pPr>
            <a:endParaRPr lang="en-US" sz="2400" dirty="0">
              <a:latin typeface="Arial" panose="020B0604020202020204" pitchFamily="34" charset="0"/>
              <a:cs typeface="Arial" panose="020B0604020202020204" pitchFamily="34" charset="0"/>
            </a:endParaRPr>
          </a:p>
          <a:p>
            <a:pPr marL="228600" lvl="0" indent="-50800" algn="l" rtl="0">
              <a:lnSpc>
                <a:spcPct val="90000"/>
              </a:lnSpc>
              <a:spcBef>
                <a:spcPts val="0"/>
              </a:spcBef>
              <a:spcAft>
                <a:spcPts val="0"/>
              </a:spcAft>
              <a:buClr>
                <a:schemeClr val="dk1"/>
              </a:buClr>
              <a:buSzPts val="2800"/>
              <a:buNone/>
            </a:pPr>
            <a:endParaRPr lang="en-US" sz="1200" dirty="0">
              <a:latin typeface="Arial" panose="020B0604020202020204" pitchFamily="34" charset="0"/>
              <a:cs typeface="Arial" panose="020B0604020202020204" pitchFamily="34" charset="0"/>
            </a:endParaRPr>
          </a:p>
          <a:p>
            <a:pPr marL="228600" lvl="0" indent="-50800" algn="l" rtl="0">
              <a:lnSpc>
                <a:spcPct val="90000"/>
              </a:lnSpc>
              <a:spcBef>
                <a:spcPts val="0"/>
              </a:spcBef>
              <a:spcAft>
                <a:spcPts val="0"/>
              </a:spcAft>
              <a:buClr>
                <a:schemeClr val="dk1"/>
              </a:buClr>
              <a:buSzPts val="2800"/>
              <a:buNone/>
            </a:pPr>
            <a:r>
              <a:rPr lang="en-US" sz="1200" dirty="0">
                <a:latin typeface="Arial" panose="020B0604020202020204" pitchFamily="34" charset="0"/>
                <a:cs typeface="Arial" panose="020B0604020202020204" pitchFamily="34" charset="0"/>
              </a:rPr>
              <a:t>Reference: https://www.rebeladmin.com/2018/06/step-step-guide-setup-two-tier-pki-environment/</a:t>
            </a:r>
          </a:p>
          <a:p>
            <a:pPr marL="228600" lvl="0" indent="-50800" algn="l" rtl="0">
              <a:lnSpc>
                <a:spcPct val="90000"/>
              </a:lnSpc>
              <a:spcBef>
                <a:spcPts val="0"/>
              </a:spcBef>
              <a:spcAft>
                <a:spcPts val="0"/>
              </a:spcAft>
              <a:buClr>
                <a:schemeClr val="dk1"/>
              </a:buClr>
              <a:buSzPts val="2800"/>
              <a:buNone/>
            </a:pPr>
            <a:endParaRPr lang="en-US" dirty="0">
              <a:latin typeface="Arial" panose="020B0604020202020204" pitchFamily="34" charset="0"/>
              <a:cs typeface="Arial" panose="020B0604020202020204" pitchFamily="34" charset="0"/>
            </a:endParaRPr>
          </a:p>
          <a:p>
            <a:pPr marL="228600" lvl="0" indent="-50800" algn="l" rtl="0">
              <a:lnSpc>
                <a:spcPct val="90000"/>
              </a:lnSpc>
              <a:spcBef>
                <a:spcPts val="0"/>
              </a:spcBef>
              <a:spcAft>
                <a:spcPts val="0"/>
              </a:spcAft>
              <a:buClr>
                <a:schemeClr val="dk1"/>
              </a:buClr>
              <a:buSzPts val="2800"/>
              <a:buNone/>
            </a:pPr>
            <a:endParaRPr lang="en-US" dirty="0">
              <a:latin typeface="Arial" panose="020B0604020202020204" pitchFamily="34" charset="0"/>
              <a:cs typeface="Arial" panose="020B0604020202020204" pitchFamily="34" charset="0"/>
            </a:endParaRPr>
          </a:p>
          <a:p>
            <a:pPr marL="228600" lvl="0" indent="-50800" algn="l" rtl="0">
              <a:lnSpc>
                <a:spcPct val="90000"/>
              </a:lnSpc>
              <a:spcBef>
                <a:spcPts val="0"/>
              </a:spcBef>
              <a:spcAft>
                <a:spcPts val="0"/>
              </a:spcAft>
              <a:buClr>
                <a:schemeClr val="dk1"/>
              </a:buClr>
              <a:buSzPts val="2800"/>
              <a:buNone/>
            </a:pPr>
            <a:endParaRPr dirty="0">
              <a:latin typeface="Arial" panose="020B0604020202020204" pitchFamily="34" charset="0"/>
              <a:cs typeface="Arial" panose="020B0604020202020204" pitchFamily="34" charset="0"/>
            </a:endParaRPr>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8419A0A-251D-B85E-5122-6B3AE11933A4}"/>
              </a:ext>
            </a:extLst>
          </p:cNvPr>
          <p:cNvPicPr>
            <a:picLocks noChangeAspect="1"/>
          </p:cNvPicPr>
          <p:nvPr/>
        </p:nvPicPr>
        <p:blipFill>
          <a:blip r:embed="rId3"/>
          <a:stretch>
            <a:fillRect/>
          </a:stretch>
        </p:blipFill>
        <p:spPr>
          <a:xfrm>
            <a:off x="7375955" y="2045839"/>
            <a:ext cx="4457700" cy="3190875"/>
          </a:xfrm>
          <a:prstGeom prst="rect">
            <a:avLst/>
          </a:prstGeom>
        </p:spPr>
      </p:pic>
    </p:spTree>
    <p:extLst>
      <p:ext uri="{BB962C8B-B14F-4D97-AF65-F5344CB8AC3E}">
        <p14:creationId xmlns:p14="http://schemas.microsoft.com/office/powerpoint/2010/main" val="3530394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Why Use PowerShell to generate Certificates?</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692150" lvl="0" indent="-514350" algn="l" rtl="0">
              <a:lnSpc>
                <a:spcPct val="90000"/>
              </a:lnSpc>
              <a:spcBef>
                <a:spcPts val="0"/>
              </a:spcBef>
              <a:spcAft>
                <a:spcPts val="0"/>
              </a:spcAft>
              <a:buClr>
                <a:schemeClr val="dk1"/>
              </a:buClr>
              <a:buSzPts val="2800"/>
              <a:buFont typeface="+mj-lt"/>
              <a:buAutoNum type="arabicPeriod"/>
            </a:pPr>
            <a:r>
              <a:rPr lang="en-US" sz="2700" dirty="0">
                <a:latin typeface="Arial" panose="020B0604020202020204" pitchFamily="34" charset="0"/>
                <a:cs typeface="Arial" panose="020B0604020202020204" pitchFamily="34" charset="0"/>
              </a:rPr>
              <a:t>Examples with Easy to fill-in variables to create the SSL Certificates</a:t>
            </a:r>
          </a:p>
          <a:p>
            <a:pPr marL="692150" lvl="0" indent="-514350" algn="l" rtl="0">
              <a:lnSpc>
                <a:spcPct val="90000"/>
              </a:lnSpc>
              <a:spcBef>
                <a:spcPts val="0"/>
              </a:spcBef>
              <a:spcAft>
                <a:spcPts val="0"/>
              </a:spcAft>
              <a:buClr>
                <a:schemeClr val="dk1"/>
              </a:buClr>
              <a:buSzPts val="2800"/>
              <a:buFont typeface="+mj-lt"/>
              <a:buAutoNum type="arabicPeriod"/>
            </a:pPr>
            <a:endParaRPr lang="en-US" sz="2700" dirty="0">
              <a:latin typeface="Arial" panose="020B0604020202020204" pitchFamily="34" charset="0"/>
              <a:cs typeface="Arial" panose="020B0604020202020204" pitchFamily="34" charset="0"/>
            </a:endParaRPr>
          </a:p>
          <a:p>
            <a:pPr marL="692150" lvl="0" indent="-514350" algn="l" rtl="0">
              <a:lnSpc>
                <a:spcPct val="90000"/>
              </a:lnSpc>
              <a:spcBef>
                <a:spcPts val="0"/>
              </a:spcBef>
              <a:spcAft>
                <a:spcPts val="0"/>
              </a:spcAft>
              <a:buClr>
                <a:schemeClr val="dk1"/>
              </a:buClr>
              <a:buSzPts val="2800"/>
              <a:buFont typeface="+mj-lt"/>
              <a:buAutoNum type="arabicPeriod"/>
            </a:pPr>
            <a:r>
              <a:rPr lang="en-US" sz="2700" dirty="0">
                <a:latin typeface="Arial" panose="020B0604020202020204" pitchFamily="34" charset="0"/>
                <a:cs typeface="Arial" panose="020B0604020202020204" pitchFamily="34" charset="0"/>
              </a:rPr>
              <a:t>Provides directions post creation to assist in installation</a:t>
            </a:r>
          </a:p>
          <a:p>
            <a:pPr marL="692150" lvl="0" indent="-514350" algn="l" rtl="0">
              <a:lnSpc>
                <a:spcPct val="90000"/>
              </a:lnSpc>
              <a:spcBef>
                <a:spcPts val="0"/>
              </a:spcBef>
              <a:spcAft>
                <a:spcPts val="0"/>
              </a:spcAft>
              <a:buClr>
                <a:schemeClr val="dk1"/>
              </a:buClr>
              <a:buSzPts val="2800"/>
              <a:buFont typeface="+mj-lt"/>
              <a:buAutoNum type="arabicPeriod"/>
            </a:pPr>
            <a:endParaRPr lang="en-US" sz="2700" dirty="0">
              <a:latin typeface="Arial" panose="020B0604020202020204" pitchFamily="34" charset="0"/>
              <a:cs typeface="Arial" panose="020B0604020202020204" pitchFamily="34" charset="0"/>
            </a:endParaRPr>
          </a:p>
          <a:p>
            <a:pPr marL="692150" lvl="0" indent="-514350" algn="l" rtl="0">
              <a:lnSpc>
                <a:spcPct val="90000"/>
              </a:lnSpc>
              <a:spcBef>
                <a:spcPts val="0"/>
              </a:spcBef>
              <a:spcAft>
                <a:spcPts val="0"/>
              </a:spcAft>
              <a:buClr>
                <a:schemeClr val="dk1"/>
              </a:buClr>
              <a:buSzPts val="2800"/>
              <a:buFont typeface="+mj-lt"/>
              <a:buAutoNum type="arabicPeriod"/>
            </a:pPr>
            <a:r>
              <a:rPr lang="en-US" sz="2700" dirty="0">
                <a:latin typeface="Arial" panose="020B0604020202020204" pitchFamily="34" charset="0"/>
                <a:cs typeface="Arial" panose="020B0604020202020204" pitchFamily="34" charset="0"/>
              </a:rPr>
              <a:t>Code is Documentation</a:t>
            </a:r>
          </a:p>
          <a:p>
            <a:pPr marL="692150" lvl="0" indent="-514350" algn="l" rtl="0">
              <a:lnSpc>
                <a:spcPct val="90000"/>
              </a:lnSpc>
              <a:spcBef>
                <a:spcPts val="0"/>
              </a:spcBef>
              <a:spcAft>
                <a:spcPts val="0"/>
              </a:spcAft>
              <a:buClr>
                <a:schemeClr val="dk1"/>
              </a:buClr>
              <a:buSzPts val="2800"/>
              <a:buFont typeface="+mj-lt"/>
              <a:buAutoNum type="arabicPeriod"/>
            </a:pPr>
            <a:endParaRPr lang="en-US" sz="2700" dirty="0">
              <a:latin typeface="Arial" panose="020B0604020202020204" pitchFamily="34" charset="0"/>
              <a:cs typeface="Arial" panose="020B0604020202020204" pitchFamily="34" charset="0"/>
            </a:endParaRPr>
          </a:p>
          <a:p>
            <a:pPr marL="692150" lvl="0" indent="-514350" algn="l" rtl="0">
              <a:lnSpc>
                <a:spcPct val="90000"/>
              </a:lnSpc>
              <a:spcBef>
                <a:spcPts val="0"/>
              </a:spcBef>
              <a:spcAft>
                <a:spcPts val="0"/>
              </a:spcAft>
              <a:buClr>
                <a:schemeClr val="dk1"/>
              </a:buClr>
              <a:buSzPts val="2800"/>
              <a:buFont typeface="+mj-lt"/>
              <a:buAutoNum type="arabicPeriod"/>
            </a:pPr>
            <a:r>
              <a:rPr lang="en-US" sz="2700" dirty="0">
                <a:latin typeface="Arial" panose="020B0604020202020204" pitchFamily="34" charset="0"/>
                <a:cs typeface="Arial" panose="020B0604020202020204" pitchFamily="34" charset="0"/>
              </a:rPr>
              <a:t>Logs all output for documentation</a:t>
            </a:r>
          </a:p>
          <a:p>
            <a:pPr marL="177800" lvl="0" indent="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3236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Use VCF Operations to Assist in Certificate Management</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39B4B05-2C08-E069-CD08-873612829F7C}"/>
              </a:ext>
            </a:extLst>
          </p:cNvPr>
          <p:cNvPicPr>
            <a:picLocks noChangeAspect="1"/>
          </p:cNvPicPr>
          <p:nvPr/>
        </p:nvPicPr>
        <p:blipFill>
          <a:blip r:embed="rId3"/>
          <a:stretch>
            <a:fillRect/>
          </a:stretch>
        </p:blipFill>
        <p:spPr>
          <a:xfrm>
            <a:off x="0" y="1118500"/>
            <a:ext cx="12192000" cy="6227338"/>
          </a:xfrm>
          <a:prstGeom prst="rect">
            <a:avLst/>
          </a:prstGeom>
        </p:spPr>
      </p:pic>
    </p:spTree>
    <p:extLst>
      <p:ext uri="{BB962C8B-B14F-4D97-AF65-F5344CB8AC3E}">
        <p14:creationId xmlns:p14="http://schemas.microsoft.com/office/powerpoint/2010/main" val="2334565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When TO use VCF Operations for Certificate Creation</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635000" indent="-457200">
              <a:spcBef>
                <a:spcPts val="0"/>
              </a:spcBef>
            </a:pPr>
            <a:r>
              <a:rPr lang="en-US" dirty="0"/>
              <a:t>Use VCF Operations internal VMCA (VMware Certificate Authority)</a:t>
            </a:r>
          </a:p>
          <a:p>
            <a:pPr marL="635000" indent="-457200">
              <a:spcBef>
                <a:spcPts val="0"/>
              </a:spcBef>
            </a:pPr>
            <a:r>
              <a:rPr lang="en-US" dirty="0"/>
              <a:t>Use it to automate replacement of certificates (VMCA only)</a:t>
            </a:r>
          </a:p>
          <a:p>
            <a:pPr marL="635000" indent="-457200">
              <a:spcBef>
                <a:spcPts val="0"/>
              </a:spcBef>
            </a:pPr>
            <a:r>
              <a:rPr lang="en-US" dirty="0"/>
              <a:t>Use it if you have access to a Microsoft Internal CA System</a:t>
            </a:r>
          </a:p>
          <a:p>
            <a:pPr marL="635000" indent="-457200">
              <a:spcBef>
                <a:spcPts val="0"/>
              </a:spcBef>
            </a:pPr>
            <a:endParaRPr lang="en-US" dirty="0"/>
          </a:p>
          <a:p>
            <a:pPr marL="635000" indent="-457200">
              <a:spcBef>
                <a:spcPts val="0"/>
              </a:spcBef>
            </a:pPr>
            <a:endParaRPr lang="en-US" dirty="0"/>
          </a:p>
          <a:p>
            <a:pPr marL="177800" indent="0">
              <a:spcBef>
                <a:spcPts val="0"/>
              </a:spcBef>
              <a:buNone/>
            </a:pPr>
            <a:r>
              <a:rPr lang="en-US" dirty="0"/>
              <a:t>3 Different CA Methods supported by VCF Operations</a:t>
            </a:r>
          </a:p>
          <a:p>
            <a:pPr marL="692150" indent="-514350">
              <a:spcBef>
                <a:spcPts val="0"/>
              </a:spcBef>
              <a:buFont typeface="+mj-lt"/>
              <a:buAutoNum type="arabicPeriod"/>
            </a:pPr>
            <a:r>
              <a:rPr lang="en-US" dirty="0"/>
              <a:t>VMCA (VMware Certificate Authority)</a:t>
            </a:r>
          </a:p>
          <a:p>
            <a:pPr marL="692150" indent="-514350">
              <a:spcBef>
                <a:spcPts val="0"/>
              </a:spcBef>
              <a:buFont typeface="+mj-lt"/>
              <a:buAutoNum type="arabicPeriod"/>
            </a:pPr>
            <a:r>
              <a:rPr lang="en-US" dirty="0"/>
              <a:t>Microsoft CA</a:t>
            </a:r>
          </a:p>
          <a:p>
            <a:pPr marL="692150" indent="-514350">
              <a:spcBef>
                <a:spcPts val="0"/>
              </a:spcBef>
              <a:buFont typeface="+mj-lt"/>
              <a:buAutoNum type="arabicPeriod"/>
            </a:pPr>
            <a:r>
              <a:rPr lang="en-US" dirty="0"/>
              <a:t>OpenSSL</a:t>
            </a: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FC2B6CA-DD96-5E76-3B07-B7590CA2A8D8}"/>
              </a:ext>
            </a:extLst>
          </p:cNvPr>
          <p:cNvPicPr>
            <a:picLocks noChangeAspect="1"/>
          </p:cNvPicPr>
          <p:nvPr/>
        </p:nvPicPr>
        <p:blipFill>
          <a:blip r:embed="rId3"/>
          <a:stretch>
            <a:fillRect/>
          </a:stretch>
        </p:blipFill>
        <p:spPr>
          <a:xfrm>
            <a:off x="6245929" y="4075980"/>
            <a:ext cx="4496427" cy="1457528"/>
          </a:xfrm>
          <a:prstGeom prst="rect">
            <a:avLst/>
          </a:prstGeom>
        </p:spPr>
      </p:pic>
    </p:spTree>
    <p:extLst>
      <p:ext uri="{BB962C8B-B14F-4D97-AF65-F5344CB8AC3E}">
        <p14:creationId xmlns:p14="http://schemas.microsoft.com/office/powerpoint/2010/main" val="2290156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When Not to use VCF Operations for Certificate Creation</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177800" indent="0">
              <a:spcBef>
                <a:spcPts val="0"/>
              </a:spcBef>
              <a:buNone/>
            </a:pPr>
            <a:endParaRPr lang="en-US" dirty="0"/>
          </a:p>
          <a:p>
            <a:pPr marL="635000" indent="-457200">
              <a:spcBef>
                <a:spcPts val="0"/>
              </a:spcBef>
            </a:pPr>
            <a:r>
              <a:rPr lang="en-US" dirty="0"/>
              <a:t>Company does not provide application access to CA Systems</a:t>
            </a:r>
          </a:p>
          <a:p>
            <a:pPr marL="635000" indent="-457200">
              <a:spcBef>
                <a:spcPts val="0"/>
              </a:spcBef>
            </a:pPr>
            <a:r>
              <a:rPr lang="en-US" dirty="0"/>
              <a:t>Company uses an external CA System</a:t>
            </a:r>
          </a:p>
          <a:p>
            <a:pPr marL="1092200" lvl="1" indent="-457200">
              <a:spcBef>
                <a:spcPts val="0"/>
              </a:spcBef>
            </a:pPr>
            <a:r>
              <a:rPr lang="en-US" dirty="0"/>
              <a:t>Let’s Encrypt</a:t>
            </a:r>
          </a:p>
          <a:p>
            <a:pPr marL="1092200" lvl="1" indent="-457200">
              <a:spcBef>
                <a:spcPts val="0"/>
              </a:spcBef>
            </a:pPr>
            <a:r>
              <a:rPr lang="en-US" dirty="0"/>
              <a:t>DigiCert</a:t>
            </a:r>
          </a:p>
          <a:p>
            <a:pPr marL="1092200" lvl="1" indent="-457200">
              <a:spcBef>
                <a:spcPts val="0"/>
              </a:spcBef>
            </a:pPr>
            <a:r>
              <a:rPr lang="en-US" dirty="0"/>
              <a:t>GlobalSign</a:t>
            </a:r>
          </a:p>
          <a:p>
            <a:pPr marL="1092200" lvl="1" indent="-457200">
              <a:spcBef>
                <a:spcPts val="0"/>
              </a:spcBef>
            </a:pPr>
            <a:r>
              <a:rPr lang="en-US" dirty="0"/>
              <a:t>GoDaddy</a:t>
            </a:r>
          </a:p>
          <a:p>
            <a:pPr marL="1092200" lvl="1" indent="-457200">
              <a:spcBef>
                <a:spcPts val="0"/>
              </a:spcBef>
            </a:pPr>
            <a:r>
              <a:rPr lang="en-US" dirty="0"/>
              <a:t>SSL.com</a:t>
            </a:r>
          </a:p>
          <a:p>
            <a:pPr marL="1092200" lvl="1" indent="-457200">
              <a:spcBef>
                <a:spcPts val="0"/>
              </a:spcBef>
            </a:pPr>
            <a:r>
              <a:rPr lang="en-US" dirty="0"/>
              <a:t>Cloudflare</a:t>
            </a:r>
          </a:p>
          <a:p>
            <a:pPr marL="635000" indent="-457200">
              <a:spcBef>
                <a:spcPts val="0"/>
              </a:spcBef>
            </a:pPr>
            <a:r>
              <a:rPr lang="en-US" dirty="0"/>
              <a:t>Firewalls prevent access to CA systems</a:t>
            </a:r>
          </a:p>
          <a:p>
            <a:pPr marL="635000" indent="-457200">
              <a:spcBef>
                <a:spcPts val="0"/>
              </a:spcBef>
            </a:pPr>
            <a:r>
              <a:rPr lang="en-US" dirty="0"/>
              <a:t>Company uses a CA System that is not supported by VCF Operations</a:t>
            </a: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3001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How to set up a Windows CA</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lnSpcReduction="10000"/>
          </a:bodyPr>
          <a:lstStyle/>
          <a:p>
            <a:pPr marL="228600" lvl="0" indent="-50800" algn="l" rtl="0">
              <a:lnSpc>
                <a:spcPct val="90000"/>
              </a:lnSpc>
              <a:spcBef>
                <a:spcPts val="0"/>
              </a:spcBef>
              <a:spcAft>
                <a:spcPts val="0"/>
              </a:spcAft>
              <a:buClr>
                <a:schemeClr val="dk1"/>
              </a:buClr>
              <a:buSzPts val="2800"/>
              <a:buNone/>
            </a:pPr>
            <a:endParaRPr lang="en-US" dirty="0"/>
          </a:p>
          <a:p>
            <a:pPr marL="228600" lvl="0" indent="-50800" algn="l" rtl="0">
              <a:lnSpc>
                <a:spcPct val="90000"/>
              </a:lnSpc>
              <a:spcBef>
                <a:spcPts val="0"/>
              </a:spcBef>
              <a:spcAft>
                <a:spcPts val="0"/>
              </a:spcAft>
              <a:buClr>
                <a:schemeClr val="dk1"/>
              </a:buClr>
              <a:buSzPts val="2800"/>
              <a:buNone/>
            </a:pPr>
            <a:r>
              <a:rPr lang="en-US" dirty="0"/>
              <a:t>Decide on your deployment model. </a:t>
            </a:r>
          </a:p>
          <a:p>
            <a:pPr marL="692150" indent="-514350">
              <a:spcBef>
                <a:spcPts val="0"/>
              </a:spcBef>
              <a:buFont typeface="+mj-lt"/>
              <a:buAutoNum type="alphaUcPeriod"/>
            </a:pPr>
            <a:r>
              <a:rPr lang="en-US" dirty="0"/>
              <a:t>1 Root CA</a:t>
            </a:r>
          </a:p>
          <a:p>
            <a:pPr marL="692150" indent="-514350">
              <a:spcBef>
                <a:spcPts val="0"/>
              </a:spcBef>
              <a:buFont typeface="+mj-lt"/>
              <a:buAutoNum type="alphaUcPeriod"/>
            </a:pPr>
            <a:r>
              <a:rPr lang="en-US" dirty="0"/>
              <a:t>1 Root CA + 2 Intermediate CAs</a:t>
            </a:r>
          </a:p>
          <a:p>
            <a:pPr marL="692150" indent="-514350">
              <a:spcBef>
                <a:spcPts val="0"/>
              </a:spcBef>
              <a:buFont typeface="+mj-lt"/>
              <a:buAutoNum type="alphaUcPeriod"/>
            </a:pPr>
            <a:endParaRPr lang="en-US" dirty="0"/>
          </a:p>
          <a:p>
            <a:pPr marL="177800" indent="0">
              <a:spcBef>
                <a:spcPts val="0"/>
              </a:spcBef>
              <a:buNone/>
            </a:pPr>
            <a:r>
              <a:rPr lang="en-US" dirty="0"/>
              <a:t>I highly recommend you make the Root and Intermediate CA certificates be for at least as long as that version of Windows is Supported.</a:t>
            </a:r>
          </a:p>
          <a:p>
            <a:pPr marL="177800" indent="0">
              <a:spcBef>
                <a:spcPts val="0"/>
              </a:spcBef>
              <a:buNone/>
            </a:pPr>
            <a:r>
              <a:rPr lang="en-US" dirty="0"/>
              <a:t>AKA 10 years or so.</a:t>
            </a:r>
            <a:br>
              <a:rPr lang="en-US" dirty="0"/>
            </a:br>
            <a:br>
              <a:rPr lang="en-US" dirty="0"/>
            </a:br>
            <a:br>
              <a:rPr lang="en-US" dirty="0"/>
            </a:br>
            <a:br>
              <a:rPr lang="en-US" dirty="0"/>
            </a:b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Deploy 1 or 3 CAs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8345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If you plan to use VCF Operations with a Windows CA</a:t>
            </a:r>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Enable Web Enrollment</a:t>
            </a:r>
            <a:endParaRPr lang="en-US"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E49057A-F1C6-D4F4-08B9-80D77ADAFAAB}"/>
              </a:ext>
            </a:extLst>
          </p:cNvPr>
          <p:cNvPicPr>
            <a:picLocks noChangeAspect="1"/>
          </p:cNvPicPr>
          <p:nvPr/>
        </p:nvPicPr>
        <p:blipFill>
          <a:blip r:embed="rId3"/>
          <a:stretch>
            <a:fillRect/>
          </a:stretch>
        </p:blipFill>
        <p:spPr>
          <a:xfrm>
            <a:off x="1001667" y="1287527"/>
            <a:ext cx="7497221" cy="5334744"/>
          </a:xfrm>
          <a:prstGeom prst="rect">
            <a:avLst/>
          </a:prstGeom>
        </p:spPr>
      </p:pic>
      <p:sp>
        <p:nvSpPr>
          <p:cNvPr id="9" name="Subtitle 5">
            <a:extLst>
              <a:ext uri="{FF2B5EF4-FFF2-40B4-BE49-F238E27FC236}">
                <a16:creationId xmlns:a16="http://schemas.microsoft.com/office/drawing/2014/main" id="{365BAABF-5A1E-0DFC-C018-DA68234532EB}"/>
              </a:ext>
            </a:extLst>
          </p:cNvPr>
          <p:cNvSpPr txBox="1">
            <a:spLocks/>
          </p:cNvSpPr>
          <p:nvPr/>
        </p:nvSpPr>
        <p:spPr>
          <a:xfrm>
            <a:off x="8576527" y="1322658"/>
            <a:ext cx="3693112" cy="4670277"/>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https://techdocs.broadcom.com/us/en/vmware-cis/vcf/vcf-5-2-and-earlier/4-5/administering/certificate-management-admin/configure-vmware-cloud-foundation-to-use-microsoft-ca-signed-certificates-admin/prepare-your-certificate-authority-to-enable-sddc-manger-to-manage-certificates-admin/install-microsoft-certificate-authority-roles-admin.html</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6374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Windows CA IIS Configuration</a:t>
            </a:r>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Enable IIS Basic Authentication</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DD1433A-F2BB-1C64-6862-C0C05D1FD57F}"/>
              </a:ext>
            </a:extLst>
          </p:cNvPr>
          <p:cNvPicPr>
            <a:picLocks noChangeAspect="1"/>
          </p:cNvPicPr>
          <p:nvPr/>
        </p:nvPicPr>
        <p:blipFill>
          <a:blip r:embed="rId3"/>
          <a:stretch>
            <a:fillRect/>
          </a:stretch>
        </p:blipFill>
        <p:spPr>
          <a:xfrm>
            <a:off x="2046364" y="1288427"/>
            <a:ext cx="7478169" cy="5325218"/>
          </a:xfrm>
          <a:prstGeom prst="rect">
            <a:avLst/>
          </a:prstGeom>
        </p:spPr>
      </p:pic>
    </p:spTree>
    <p:extLst>
      <p:ext uri="{BB962C8B-B14F-4D97-AF65-F5344CB8AC3E}">
        <p14:creationId xmlns:p14="http://schemas.microsoft.com/office/powerpoint/2010/main" val="3680982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Configure CA – Configure IIS Bindings</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Enable HTTPS / 443</a:t>
            </a:r>
            <a:endParaRPr lang="en-US"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5E1199D-6FF3-775C-A0E9-7608F1D07982}"/>
              </a:ext>
            </a:extLst>
          </p:cNvPr>
          <p:cNvPicPr>
            <a:picLocks noChangeAspect="1"/>
          </p:cNvPicPr>
          <p:nvPr/>
        </p:nvPicPr>
        <p:blipFill>
          <a:blip r:embed="rId3"/>
          <a:stretch>
            <a:fillRect/>
          </a:stretch>
        </p:blipFill>
        <p:spPr>
          <a:xfrm>
            <a:off x="200812" y="1260818"/>
            <a:ext cx="5458587" cy="4667901"/>
          </a:xfrm>
          <a:prstGeom prst="rect">
            <a:avLst/>
          </a:prstGeom>
        </p:spPr>
      </p:pic>
      <p:pic>
        <p:nvPicPr>
          <p:cNvPr id="10" name="Picture 9">
            <a:extLst>
              <a:ext uri="{FF2B5EF4-FFF2-40B4-BE49-F238E27FC236}">
                <a16:creationId xmlns:a16="http://schemas.microsoft.com/office/drawing/2014/main" id="{C6A6A171-AA88-8FAB-5DA0-BFA147B2E392}"/>
              </a:ext>
            </a:extLst>
          </p:cNvPr>
          <p:cNvPicPr>
            <a:picLocks noChangeAspect="1"/>
          </p:cNvPicPr>
          <p:nvPr/>
        </p:nvPicPr>
        <p:blipFill>
          <a:blip r:embed="rId4"/>
          <a:stretch>
            <a:fillRect/>
          </a:stretch>
        </p:blipFill>
        <p:spPr>
          <a:xfrm>
            <a:off x="5797530" y="1784765"/>
            <a:ext cx="6173061" cy="3620005"/>
          </a:xfrm>
          <a:prstGeom prst="rect">
            <a:avLst/>
          </a:prstGeom>
        </p:spPr>
      </p:pic>
    </p:spTree>
    <p:extLst>
      <p:ext uri="{BB962C8B-B14F-4D97-AF65-F5344CB8AC3E}">
        <p14:creationId xmlns:p14="http://schemas.microsoft.com/office/powerpoint/2010/main" val="2947239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Configure Windows CA with IIS – Enable Basic Authentication</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Required for VCF Operations to Connect to the Windows CA IIS Web Service </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359979A-C622-6972-0A7E-3089EB5D325E}"/>
              </a:ext>
            </a:extLst>
          </p:cNvPr>
          <p:cNvPicPr>
            <a:picLocks noChangeAspect="1"/>
          </p:cNvPicPr>
          <p:nvPr/>
        </p:nvPicPr>
        <p:blipFill>
          <a:blip r:embed="rId3"/>
          <a:stretch>
            <a:fillRect/>
          </a:stretch>
        </p:blipFill>
        <p:spPr>
          <a:xfrm>
            <a:off x="297960" y="1245844"/>
            <a:ext cx="6487430" cy="5134692"/>
          </a:xfrm>
          <a:prstGeom prst="rect">
            <a:avLst/>
          </a:prstGeom>
        </p:spPr>
      </p:pic>
      <p:pic>
        <p:nvPicPr>
          <p:cNvPr id="8" name="Picture 7">
            <a:extLst>
              <a:ext uri="{FF2B5EF4-FFF2-40B4-BE49-F238E27FC236}">
                <a16:creationId xmlns:a16="http://schemas.microsoft.com/office/drawing/2014/main" id="{CE8B077A-102B-A0F1-9453-15581D40EBB5}"/>
              </a:ext>
            </a:extLst>
          </p:cNvPr>
          <p:cNvPicPr>
            <a:picLocks noChangeAspect="1"/>
          </p:cNvPicPr>
          <p:nvPr/>
        </p:nvPicPr>
        <p:blipFill>
          <a:blip r:embed="rId4"/>
          <a:stretch>
            <a:fillRect/>
          </a:stretch>
        </p:blipFill>
        <p:spPr>
          <a:xfrm>
            <a:off x="4307141" y="1267447"/>
            <a:ext cx="7302578" cy="2545743"/>
          </a:xfrm>
          <a:prstGeom prst="rect">
            <a:avLst/>
          </a:prstGeom>
        </p:spPr>
      </p:pic>
      <p:sp>
        <p:nvSpPr>
          <p:cNvPr id="9" name="Subtitle 5">
            <a:extLst>
              <a:ext uri="{FF2B5EF4-FFF2-40B4-BE49-F238E27FC236}">
                <a16:creationId xmlns:a16="http://schemas.microsoft.com/office/drawing/2014/main" id="{7C1CB8A2-B146-7DFD-7564-D5AFA6AB5748}"/>
              </a:ext>
            </a:extLst>
          </p:cNvPr>
          <p:cNvSpPr txBox="1">
            <a:spLocks/>
          </p:cNvSpPr>
          <p:nvPr/>
        </p:nvSpPr>
        <p:spPr>
          <a:xfrm>
            <a:off x="6845775" y="3957892"/>
            <a:ext cx="5369031" cy="1911336"/>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sz="1600" dirty="0">
                <a:latin typeface="Arial" panose="020B0604020202020204" pitchFamily="34" charset="0"/>
                <a:cs typeface="Arial" panose="020B0604020202020204" pitchFamily="34" charset="0"/>
              </a:rPr>
              <a:t>https://techdocs.broadcom.com/us/en/vmware-cis/vcf/vcf-5-2-and-earlier/4-5/administering/certificate-management-admin/configure-vmware-cloud-foundation-to-use-microsoft-ca-signed-certificates-admin/prepare-your-certificate-authority-to-enable-sddc-manger-to-manage-certificates-admin/configure-the-microsoft-certificate-authority-for-basic-authentication-admin.html</a:t>
            </a:r>
          </a:p>
        </p:txBody>
      </p:sp>
    </p:spTree>
    <p:extLst>
      <p:ext uri="{BB962C8B-B14F-4D97-AF65-F5344CB8AC3E}">
        <p14:creationId xmlns:p14="http://schemas.microsoft.com/office/powerpoint/2010/main" val="1792114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VCF Operations – Create AD Service Account</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Configure a VCF AD Service Account for Certificate Creation</a:t>
            </a:r>
            <a:endParaRPr lang="en-US"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DCF896F-0833-E488-37CC-42F034490B42}"/>
              </a:ext>
            </a:extLst>
          </p:cNvPr>
          <p:cNvPicPr>
            <a:picLocks noChangeAspect="1"/>
          </p:cNvPicPr>
          <p:nvPr/>
        </p:nvPicPr>
        <p:blipFill>
          <a:blip r:embed="rId3"/>
          <a:stretch>
            <a:fillRect/>
          </a:stretch>
        </p:blipFill>
        <p:spPr>
          <a:xfrm>
            <a:off x="0" y="1245844"/>
            <a:ext cx="4582164" cy="5763429"/>
          </a:xfrm>
          <a:prstGeom prst="rect">
            <a:avLst/>
          </a:prstGeom>
        </p:spPr>
      </p:pic>
      <p:pic>
        <p:nvPicPr>
          <p:cNvPr id="8" name="Picture 7">
            <a:extLst>
              <a:ext uri="{FF2B5EF4-FFF2-40B4-BE49-F238E27FC236}">
                <a16:creationId xmlns:a16="http://schemas.microsoft.com/office/drawing/2014/main" id="{85160D7E-622D-E841-A359-86630D737F63}"/>
              </a:ext>
            </a:extLst>
          </p:cNvPr>
          <p:cNvPicPr>
            <a:picLocks noChangeAspect="1"/>
          </p:cNvPicPr>
          <p:nvPr/>
        </p:nvPicPr>
        <p:blipFill>
          <a:blip r:embed="rId4"/>
          <a:stretch>
            <a:fillRect/>
          </a:stretch>
        </p:blipFill>
        <p:spPr>
          <a:xfrm>
            <a:off x="4582164" y="1468869"/>
            <a:ext cx="3731722" cy="3227897"/>
          </a:xfrm>
          <a:prstGeom prst="rect">
            <a:avLst/>
          </a:prstGeom>
        </p:spPr>
      </p:pic>
      <p:pic>
        <p:nvPicPr>
          <p:cNvPr id="10" name="Picture 9">
            <a:extLst>
              <a:ext uri="{FF2B5EF4-FFF2-40B4-BE49-F238E27FC236}">
                <a16:creationId xmlns:a16="http://schemas.microsoft.com/office/drawing/2014/main" id="{3DB6212A-207E-25AA-ABFE-80AD9ED92D4F}"/>
              </a:ext>
            </a:extLst>
          </p:cNvPr>
          <p:cNvPicPr>
            <a:picLocks noChangeAspect="1"/>
          </p:cNvPicPr>
          <p:nvPr/>
        </p:nvPicPr>
        <p:blipFill>
          <a:blip r:embed="rId5"/>
          <a:stretch>
            <a:fillRect/>
          </a:stretch>
        </p:blipFill>
        <p:spPr>
          <a:xfrm>
            <a:off x="8313886" y="1368425"/>
            <a:ext cx="3914775" cy="5124450"/>
          </a:xfrm>
          <a:prstGeom prst="rect">
            <a:avLst/>
          </a:prstGeom>
        </p:spPr>
      </p:pic>
    </p:spTree>
    <p:extLst>
      <p:ext uri="{BB962C8B-B14F-4D97-AF65-F5344CB8AC3E}">
        <p14:creationId xmlns:p14="http://schemas.microsoft.com/office/powerpoint/2010/main" val="3040653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VCF Operations – Allow Service Account to Create Certificates</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pic>
        <p:nvPicPr>
          <p:cNvPr id="4" name="Picture 3">
            <a:extLst>
              <a:ext uri="{FF2B5EF4-FFF2-40B4-BE49-F238E27FC236}">
                <a16:creationId xmlns:a16="http://schemas.microsoft.com/office/drawing/2014/main" id="{10886B5B-B0BC-491F-7A68-6240732AD984}"/>
              </a:ext>
            </a:extLst>
          </p:cNvPr>
          <p:cNvPicPr>
            <a:picLocks noChangeAspect="1"/>
          </p:cNvPicPr>
          <p:nvPr/>
        </p:nvPicPr>
        <p:blipFill>
          <a:blip r:embed="rId3"/>
          <a:stretch>
            <a:fillRect/>
          </a:stretch>
        </p:blipFill>
        <p:spPr>
          <a:xfrm>
            <a:off x="0" y="1110057"/>
            <a:ext cx="3391373" cy="2067213"/>
          </a:xfrm>
          <a:prstGeom prst="rect">
            <a:avLst/>
          </a:prstGeom>
        </p:spPr>
      </p:pic>
      <p:pic>
        <p:nvPicPr>
          <p:cNvPr id="6" name="Picture 5">
            <a:extLst>
              <a:ext uri="{FF2B5EF4-FFF2-40B4-BE49-F238E27FC236}">
                <a16:creationId xmlns:a16="http://schemas.microsoft.com/office/drawing/2014/main" id="{A221B374-47AA-002F-CE9D-4BBDD0DD1B6B}"/>
              </a:ext>
            </a:extLst>
          </p:cNvPr>
          <p:cNvPicPr>
            <a:picLocks noChangeAspect="1"/>
          </p:cNvPicPr>
          <p:nvPr/>
        </p:nvPicPr>
        <p:blipFill>
          <a:blip r:embed="rId4"/>
          <a:stretch>
            <a:fillRect/>
          </a:stretch>
        </p:blipFill>
        <p:spPr>
          <a:xfrm>
            <a:off x="0" y="3195571"/>
            <a:ext cx="3791479" cy="5134692"/>
          </a:xfrm>
          <a:prstGeom prst="rect">
            <a:avLst/>
          </a:prstGeom>
        </p:spPr>
      </p:pic>
      <p:pic>
        <p:nvPicPr>
          <p:cNvPr id="8" name="Picture 7">
            <a:extLst>
              <a:ext uri="{FF2B5EF4-FFF2-40B4-BE49-F238E27FC236}">
                <a16:creationId xmlns:a16="http://schemas.microsoft.com/office/drawing/2014/main" id="{7CFA1E1C-ADC2-BE9F-FFD1-AC8152C4FA71}"/>
              </a:ext>
            </a:extLst>
          </p:cNvPr>
          <p:cNvPicPr>
            <a:picLocks noChangeAspect="1"/>
          </p:cNvPicPr>
          <p:nvPr/>
        </p:nvPicPr>
        <p:blipFill>
          <a:blip r:embed="rId5"/>
          <a:stretch>
            <a:fillRect/>
          </a:stretch>
        </p:blipFill>
        <p:spPr>
          <a:xfrm>
            <a:off x="3851034" y="1245844"/>
            <a:ext cx="4353533" cy="2419688"/>
          </a:xfrm>
          <a:prstGeom prst="rect">
            <a:avLst/>
          </a:prstGeom>
        </p:spPr>
      </p:pic>
      <p:pic>
        <p:nvPicPr>
          <p:cNvPr id="10" name="Picture 9">
            <a:extLst>
              <a:ext uri="{FF2B5EF4-FFF2-40B4-BE49-F238E27FC236}">
                <a16:creationId xmlns:a16="http://schemas.microsoft.com/office/drawing/2014/main" id="{7ADB1407-F56E-FD0E-8C80-165053562734}"/>
              </a:ext>
            </a:extLst>
          </p:cNvPr>
          <p:cNvPicPr>
            <a:picLocks noChangeAspect="1"/>
          </p:cNvPicPr>
          <p:nvPr/>
        </p:nvPicPr>
        <p:blipFill>
          <a:blip r:embed="rId6"/>
          <a:stretch>
            <a:fillRect/>
          </a:stretch>
        </p:blipFill>
        <p:spPr>
          <a:xfrm>
            <a:off x="8272766" y="972696"/>
            <a:ext cx="3867690" cy="5106113"/>
          </a:xfrm>
          <a:prstGeom prst="rect">
            <a:avLst/>
          </a:prstGeom>
        </p:spPr>
      </p:pic>
    </p:spTree>
    <p:extLst>
      <p:ext uri="{BB962C8B-B14F-4D97-AF65-F5344CB8AC3E}">
        <p14:creationId xmlns:p14="http://schemas.microsoft.com/office/powerpoint/2010/main" val="92309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fontScale="90000"/>
          </a:bodyPr>
          <a:lstStyle/>
          <a:p>
            <a:r>
              <a:rPr lang="en-US" sz="3200" dirty="0">
                <a:solidFill>
                  <a:srgbClr val="1D428A"/>
                </a:solidFill>
                <a:latin typeface="Arial" panose="020B0604020202020204" pitchFamily="34" charset="0"/>
                <a:cs typeface="Arial" panose="020B0604020202020204" pitchFamily="34" charset="0"/>
              </a:rPr>
              <a:t>For PowerShell or VCF Operations – Create Certificate Template</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Open Certificate Template Console – </a:t>
            </a:r>
            <a:r>
              <a:rPr lang="en-US" dirty="0" err="1">
                <a:solidFill>
                  <a:schemeClr val="tx1">
                    <a:lumMod val="75000"/>
                  </a:schemeClr>
                </a:solidFill>
                <a:latin typeface="Arial" panose="020B0604020202020204" pitchFamily="34" charset="0"/>
                <a:cs typeface="Arial" panose="020B0604020202020204" pitchFamily="34" charset="0"/>
              </a:rPr>
              <a:t>certtmpl.msc</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33B8967-CB0F-4B74-AAED-80C39463E365}"/>
              </a:ext>
            </a:extLst>
          </p:cNvPr>
          <p:cNvPicPr>
            <a:picLocks noChangeAspect="1"/>
          </p:cNvPicPr>
          <p:nvPr/>
        </p:nvPicPr>
        <p:blipFill>
          <a:blip r:embed="rId3"/>
          <a:stretch>
            <a:fillRect/>
          </a:stretch>
        </p:blipFill>
        <p:spPr>
          <a:xfrm>
            <a:off x="0" y="1276195"/>
            <a:ext cx="5390880" cy="6184629"/>
          </a:xfrm>
          <a:prstGeom prst="rect">
            <a:avLst/>
          </a:prstGeom>
        </p:spPr>
      </p:pic>
      <p:pic>
        <p:nvPicPr>
          <p:cNvPr id="6" name="Picture 5">
            <a:extLst>
              <a:ext uri="{FF2B5EF4-FFF2-40B4-BE49-F238E27FC236}">
                <a16:creationId xmlns:a16="http://schemas.microsoft.com/office/drawing/2014/main" id="{C973FA3D-27EA-A5A8-5DFF-ABBF5275A6E0}"/>
              </a:ext>
            </a:extLst>
          </p:cNvPr>
          <p:cNvPicPr>
            <a:picLocks noChangeAspect="1"/>
          </p:cNvPicPr>
          <p:nvPr/>
        </p:nvPicPr>
        <p:blipFill>
          <a:blip r:embed="rId4"/>
          <a:stretch>
            <a:fillRect/>
          </a:stretch>
        </p:blipFill>
        <p:spPr>
          <a:xfrm>
            <a:off x="5390880" y="1278115"/>
            <a:ext cx="3810000" cy="5334000"/>
          </a:xfrm>
          <a:prstGeom prst="rect">
            <a:avLst/>
          </a:prstGeom>
        </p:spPr>
      </p:pic>
      <p:pic>
        <p:nvPicPr>
          <p:cNvPr id="10" name="Picture 9">
            <a:extLst>
              <a:ext uri="{FF2B5EF4-FFF2-40B4-BE49-F238E27FC236}">
                <a16:creationId xmlns:a16="http://schemas.microsoft.com/office/drawing/2014/main" id="{ADBA0C73-E0CD-EE87-C681-1284E463B8BD}"/>
              </a:ext>
            </a:extLst>
          </p:cNvPr>
          <p:cNvPicPr>
            <a:picLocks noChangeAspect="1"/>
          </p:cNvPicPr>
          <p:nvPr/>
        </p:nvPicPr>
        <p:blipFill>
          <a:blip r:embed="rId5"/>
          <a:stretch>
            <a:fillRect/>
          </a:stretch>
        </p:blipFill>
        <p:spPr>
          <a:xfrm>
            <a:off x="9095057" y="1273361"/>
            <a:ext cx="3801005" cy="3343742"/>
          </a:xfrm>
          <a:prstGeom prst="rect">
            <a:avLst/>
          </a:prstGeom>
        </p:spPr>
      </p:pic>
    </p:spTree>
    <p:extLst>
      <p:ext uri="{BB962C8B-B14F-4D97-AF65-F5344CB8AC3E}">
        <p14:creationId xmlns:p14="http://schemas.microsoft.com/office/powerpoint/2010/main" val="88667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err="1">
                <a:solidFill>
                  <a:srgbClr val="1D428A"/>
                </a:solidFill>
                <a:latin typeface="Arial" panose="020B0604020202020204" pitchFamily="34" charset="0"/>
                <a:cs typeface="Arial" panose="020B0604020202020204" pitchFamily="34" charset="0"/>
              </a:rPr>
              <a:t>VMwareCertificate</a:t>
            </a:r>
            <a:r>
              <a:rPr lang="en-US" sz="3200" dirty="0">
                <a:solidFill>
                  <a:srgbClr val="1D428A"/>
                </a:solidFill>
                <a:latin typeface="Arial" panose="020B0604020202020204" pitchFamily="34" charset="0"/>
                <a:cs typeface="Arial" panose="020B0604020202020204" pitchFamily="34" charset="0"/>
              </a:rPr>
              <a:t> Template Details</a:t>
            </a:r>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2D270E26-8DE6-0231-1372-8D45E439003F}"/>
              </a:ext>
            </a:extLst>
          </p:cNvPr>
          <p:cNvPicPr>
            <a:picLocks noChangeAspect="1"/>
          </p:cNvPicPr>
          <p:nvPr/>
        </p:nvPicPr>
        <p:blipFill>
          <a:blip r:embed="rId3"/>
          <a:stretch>
            <a:fillRect/>
          </a:stretch>
        </p:blipFill>
        <p:spPr>
          <a:xfrm>
            <a:off x="0" y="870757"/>
            <a:ext cx="3801005" cy="4334480"/>
          </a:xfrm>
          <a:prstGeom prst="rect">
            <a:avLst/>
          </a:prstGeom>
        </p:spPr>
      </p:pic>
      <p:pic>
        <p:nvPicPr>
          <p:cNvPr id="12" name="Picture 11">
            <a:extLst>
              <a:ext uri="{FF2B5EF4-FFF2-40B4-BE49-F238E27FC236}">
                <a16:creationId xmlns:a16="http://schemas.microsoft.com/office/drawing/2014/main" id="{7B33C5BC-D1C5-F1C0-E328-612E0662CA01}"/>
              </a:ext>
            </a:extLst>
          </p:cNvPr>
          <p:cNvPicPr>
            <a:picLocks noChangeAspect="1"/>
          </p:cNvPicPr>
          <p:nvPr/>
        </p:nvPicPr>
        <p:blipFill>
          <a:blip r:embed="rId4"/>
          <a:stretch>
            <a:fillRect/>
          </a:stretch>
        </p:blipFill>
        <p:spPr>
          <a:xfrm>
            <a:off x="3899572" y="1190147"/>
            <a:ext cx="3619500" cy="3695700"/>
          </a:xfrm>
          <a:prstGeom prst="rect">
            <a:avLst/>
          </a:prstGeom>
        </p:spPr>
      </p:pic>
      <p:pic>
        <p:nvPicPr>
          <p:cNvPr id="14" name="Picture 13">
            <a:extLst>
              <a:ext uri="{FF2B5EF4-FFF2-40B4-BE49-F238E27FC236}">
                <a16:creationId xmlns:a16="http://schemas.microsoft.com/office/drawing/2014/main" id="{9A9AC3D7-1BBD-2E3E-C1E0-1E00084683F8}"/>
              </a:ext>
            </a:extLst>
          </p:cNvPr>
          <p:cNvPicPr>
            <a:picLocks noChangeAspect="1"/>
          </p:cNvPicPr>
          <p:nvPr/>
        </p:nvPicPr>
        <p:blipFill>
          <a:blip r:embed="rId5"/>
          <a:stretch>
            <a:fillRect/>
          </a:stretch>
        </p:blipFill>
        <p:spPr>
          <a:xfrm>
            <a:off x="7617639" y="870757"/>
            <a:ext cx="3801005" cy="5334744"/>
          </a:xfrm>
          <a:prstGeom prst="rect">
            <a:avLst/>
          </a:prstGeom>
        </p:spPr>
      </p:pic>
    </p:spTree>
    <p:extLst>
      <p:ext uri="{BB962C8B-B14F-4D97-AF65-F5344CB8AC3E}">
        <p14:creationId xmlns:p14="http://schemas.microsoft.com/office/powerpoint/2010/main" val="3170522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Add the Template to the CA</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Open </a:t>
            </a:r>
            <a:r>
              <a:rPr lang="en-US" dirty="0" err="1">
                <a:solidFill>
                  <a:schemeClr val="tx1">
                    <a:lumMod val="75000"/>
                  </a:schemeClr>
                </a:solidFill>
                <a:latin typeface="Arial" panose="020B0604020202020204" pitchFamily="34" charset="0"/>
                <a:cs typeface="Arial" panose="020B0604020202020204" pitchFamily="34" charset="0"/>
              </a:rPr>
              <a:t>certsrv.msc</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E43B014-4632-1C91-3F87-28E9DF7375F8}"/>
              </a:ext>
            </a:extLst>
          </p:cNvPr>
          <p:cNvPicPr>
            <a:picLocks noChangeAspect="1"/>
          </p:cNvPicPr>
          <p:nvPr/>
        </p:nvPicPr>
        <p:blipFill>
          <a:blip r:embed="rId3"/>
          <a:stretch>
            <a:fillRect/>
          </a:stretch>
        </p:blipFill>
        <p:spPr>
          <a:xfrm>
            <a:off x="0" y="1181795"/>
            <a:ext cx="6144482" cy="4201111"/>
          </a:xfrm>
          <a:prstGeom prst="rect">
            <a:avLst/>
          </a:prstGeom>
        </p:spPr>
      </p:pic>
      <p:pic>
        <p:nvPicPr>
          <p:cNvPr id="6" name="Picture 5">
            <a:extLst>
              <a:ext uri="{FF2B5EF4-FFF2-40B4-BE49-F238E27FC236}">
                <a16:creationId xmlns:a16="http://schemas.microsoft.com/office/drawing/2014/main" id="{AA3C7808-C168-1FB4-D520-1CBC405FBA50}"/>
              </a:ext>
            </a:extLst>
          </p:cNvPr>
          <p:cNvPicPr>
            <a:picLocks noChangeAspect="1"/>
          </p:cNvPicPr>
          <p:nvPr/>
        </p:nvPicPr>
        <p:blipFill>
          <a:blip r:embed="rId4"/>
          <a:stretch>
            <a:fillRect/>
          </a:stretch>
        </p:blipFill>
        <p:spPr>
          <a:xfrm>
            <a:off x="5735055" y="1118500"/>
            <a:ext cx="6487430" cy="4420217"/>
          </a:xfrm>
          <a:prstGeom prst="rect">
            <a:avLst/>
          </a:prstGeom>
        </p:spPr>
      </p:pic>
    </p:spTree>
    <p:extLst>
      <p:ext uri="{BB962C8B-B14F-4D97-AF65-F5344CB8AC3E}">
        <p14:creationId xmlns:p14="http://schemas.microsoft.com/office/powerpoint/2010/main" val="1514988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6" name="Picture 5">
            <a:extLst>
              <a:ext uri="{FF2B5EF4-FFF2-40B4-BE49-F238E27FC236}">
                <a16:creationId xmlns:a16="http://schemas.microsoft.com/office/drawing/2014/main" id="{105262C1-3826-D6C0-CD82-F8E8BE4C613E}"/>
              </a:ext>
            </a:extLst>
          </p:cNvPr>
          <p:cNvPicPr>
            <a:picLocks noChangeAspect="1"/>
          </p:cNvPicPr>
          <p:nvPr/>
        </p:nvPicPr>
        <p:blipFill>
          <a:blip r:embed="rId3"/>
          <a:stretch>
            <a:fillRect/>
          </a:stretch>
        </p:blipFill>
        <p:spPr>
          <a:xfrm>
            <a:off x="-10299" y="1226314"/>
            <a:ext cx="12192000" cy="5854342"/>
          </a:xfrm>
          <a:prstGeom prst="rect">
            <a:avLst/>
          </a:prstGeom>
        </p:spPr>
      </p:pic>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If you wish to do PowerShell Certificates</a:t>
            </a:r>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Download my </a:t>
            </a:r>
            <a:r>
              <a:rPr lang="en-US" dirty="0" err="1">
                <a:solidFill>
                  <a:schemeClr val="tx1">
                    <a:lumMod val="75000"/>
                  </a:schemeClr>
                </a:solidFill>
                <a:latin typeface="Arial" panose="020B0604020202020204" pitchFamily="34" charset="0"/>
                <a:cs typeface="Arial" panose="020B0604020202020204" pitchFamily="34" charset="0"/>
              </a:rPr>
              <a:t>Github</a:t>
            </a:r>
            <a:r>
              <a:rPr lang="en-US" dirty="0">
                <a:solidFill>
                  <a:schemeClr val="tx1">
                    <a:lumMod val="75000"/>
                  </a:schemeClr>
                </a:solidFill>
                <a:latin typeface="Arial" panose="020B0604020202020204" pitchFamily="34" charset="0"/>
                <a:cs typeface="Arial" panose="020B0604020202020204" pitchFamily="34" charset="0"/>
              </a:rPr>
              <a:t> - https://github.com/butch7903</a:t>
            </a:r>
            <a:endParaRPr lang="en-US"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5FD0E98B-C3FC-9D30-0918-37F494B2CA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11662" y="1992702"/>
            <a:ext cx="4701396" cy="4701396"/>
          </a:xfrm>
          <a:prstGeom prst="rect">
            <a:avLst/>
          </a:prstGeom>
        </p:spPr>
      </p:pic>
    </p:spTree>
    <p:extLst>
      <p:ext uri="{BB962C8B-B14F-4D97-AF65-F5344CB8AC3E}">
        <p14:creationId xmlns:p14="http://schemas.microsoft.com/office/powerpoint/2010/main" val="3624610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Create a Certificate via PowerShell</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fontScale="62500" lnSpcReduction="20000"/>
          </a:bodyPr>
          <a:lstStyle/>
          <a:p>
            <a:r>
              <a:rPr lang="en-US" dirty="0">
                <a:latin typeface="Arial" panose="020B0604020202020204" pitchFamily="34" charset="0"/>
                <a:cs typeface="Arial" panose="020B0604020202020204" pitchFamily="34" charset="0"/>
              </a:rPr>
              <a:t>Create your CA PEM files first. If it has already been generated previously, you can </a:t>
            </a:r>
          </a:p>
          <a:p>
            <a:r>
              <a:rPr lang="en-US" dirty="0">
                <a:latin typeface="Arial" panose="020B0604020202020204" pitchFamily="34" charset="0"/>
                <a:cs typeface="Arial" panose="020B0604020202020204" pitchFamily="34" charset="0"/>
              </a:rPr>
              <a:t>skip this step</a:t>
            </a:r>
          </a:p>
          <a:p>
            <a:pPr marL="914400" lvl="1" indent="-457200">
              <a:buFont typeface="+mj-lt"/>
              <a:buAutoNum type="arabicPeriod"/>
            </a:pPr>
            <a:r>
              <a:rPr lang="en-US" dirty="0">
                <a:latin typeface="Arial" panose="020B0604020202020204" pitchFamily="34" charset="0"/>
                <a:cs typeface="Arial" panose="020B0604020202020204" pitchFamily="34" charset="0"/>
              </a:rPr>
              <a:t>Edit the </a:t>
            </a:r>
            <a:r>
              <a:rPr lang="en-US" u="sng" dirty="0">
                <a:latin typeface="Arial" panose="020B0604020202020204" pitchFamily="34" charset="0"/>
                <a:cs typeface="Arial" panose="020B0604020202020204" pitchFamily="34" charset="0"/>
              </a:rPr>
              <a:t>Generate Root and Intermediate Certificates From Internal CA.ps1 </a:t>
            </a:r>
            <a:r>
              <a:rPr lang="en-US" dirty="0">
                <a:latin typeface="Arial" panose="020B0604020202020204" pitchFamily="34" charset="0"/>
                <a:cs typeface="Arial" panose="020B0604020202020204" pitchFamily="34" charset="0"/>
              </a:rPr>
              <a:t>script </a:t>
            </a:r>
          </a:p>
          <a:p>
            <a:pPr lvl="1" indent="0">
              <a:buNone/>
            </a:pPr>
            <a:r>
              <a:rPr lang="en-US" dirty="0">
                <a:latin typeface="Arial" panose="020B0604020202020204" pitchFamily="34" charset="0"/>
                <a:cs typeface="Arial" panose="020B0604020202020204" pitchFamily="34" charset="0"/>
              </a:rPr>
              <a:t>for </a:t>
            </a:r>
            <a:r>
              <a:rPr lang="en-US" sz="1800" dirty="0">
                <a:latin typeface="Arial" panose="020B0604020202020204" pitchFamily="34" charset="0"/>
                <a:cs typeface="Arial" panose="020B0604020202020204" pitchFamily="34" charset="0"/>
              </a:rPr>
              <a:t>your Root and Intermediate CAs</a:t>
            </a:r>
          </a:p>
          <a:p>
            <a:pPr marL="914400" lvl="1" indent="-457200">
              <a:buFont typeface="+mj-lt"/>
              <a:buAutoNum type="arabicPeriod"/>
            </a:pPr>
            <a:r>
              <a:rPr lang="en-US" dirty="0">
                <a:latin typeface="Arial" panose="020B0604020202020204" pitchFamily="34" charset="0"/>
                <a:cs typeface="Arial" panose="020B0604020202020204" pitchFamily="34" charset="0"/>
              </a:rPr>
              <a:t>Run the script to generate the Certificates in the proper format</a:t>
            </a:r>
          </a:p>
          <a:p>
            <a:pPr lvl="1" indent="0">
              <a:buNone/>
            </a:pPr>
            <a:endParaRPr lang="en-US" dirty="0">
              <a:latin typeface="Arial" panose="020B0604020202020204" pitchFamily="34" charset="0"/>
              <a:cs typeface="Arial" panose="020B0604020202020204" pitchFamily="34" charset="0"/>
            </a:endParaRPr>
          </a:p>
          <a:p>
            <a:pPr>
              <a:buNone/>
            </a:pPr>
            <a:r>
              <a:rPr lang="en-US" dirty="0">
                <a:latin typeface="Arial" panose="020B0604020202020204" pitchFamily="34" charset="0"/>
                <a:cs typeface="Arial" panose="020B0604020202020204" pitchFamily="34" charset="0"/>
              </a:rPr>
              <a:t>Run the Script for the VMware Product you wish to generate a certificate for. Example: VCSA</a:t>
            </a:r>
          </a:p>
          <a:p>
            <a:pPr marL="800100" lvl="1" indent="-342900">
              <a:buFont typeface="+mj-lt"/>
              <a:buAutoNum type="arabicPeriod"/>
            </a:pPr>
            <a:r>
              <a:rPr lang="en-US" dirty="0">
                <a:latin typeface="Arial" panose="020B0604020202020204" pitchFamily="34" charset="0"/>
                <a:cs typeface="Arial" panose="020B0604020202020204" pitchFamily="34" charset="0"/>
              </a:rPr>
              <a:t>Update the Variables for your Certificate you wish to create.</a:t>
            </a:r>
            <a:endParaRPr lang="it-IT" u="sng" dirty="0">
              <a:latin typeface="Arial" panose="020B0604020202020204" pitchFamily="34" charset="0"/>
              <a:cs typeface="Arial" panose="020B0604020202020204" pitchFamily="34" charset="0"/>
            </a:endParaRPr>
          </a:p>
          <a:p>
            <a:pPr marL="800100" lvl="1" indent="-342900">
              <a:buFont typeface="+mj-lt"/>
              <a:buAutoNum type="arabicPeriod"/>
            </a:pPr>
            <a:r>
              <a:rPr lang="it-IT" dirty="0">
                <a:latin typeface="Arial" panose="020B0604020202020204" pitchFamily="34" charset="0"/>
                <a:cs typeface="Arial" panose="020B0604020202020204" pitchFamily="34" charset="0"/>
              </a:rPr>
              <a:t>Run the script. </a:t>
            </a:r>
          </a:p>
          <a:p>
            <a:pPr marL="1087438" lvl="2" indent="-342900">
              <a:buFont typeface="+mj-lt"/>
              <a:buAutoNum type="alphaUcPeriod"/>
            </a:pPr>
            <a:r>
              <a:rPr lang="it-IT" dirty="0">
                <a:latin typeface="Arial" panose="020B0604020202020204" pitchFamily="34" charset="0"/>
                <a:cs typeface="Arial" panose="020B0604020202020204" pitchFamily="34" charset="0"/>
              </a:rPr>
              <a:t>If you do not have rights to generate Cerificates</a:t>
            </a:r>
          </a:p>
          <a:p>
            <a:pPr marL="1312863" lvl="3" indent="-342900">
              <a:buFont typeface="+mj-lt"/>
              <a:buAutoNum type="arabicPeriod"/>
            </a:pPr>
            <a:r>
              <a:rPr lang="it-IT" dirty="0">
                <a:latin typeface="Arial" panose="020B0604020202020204" pitchFamily="34" charset="0"/>
                <a:cs typeface="Arial" panose="020B0604020202020204" pitchFamily="34" charset="0"/>
              </a:rPr>
              <a:t>If you do not have rights to generate Cerificates with your MS CA, it will create the Key and CSR for you to provide to your CA administrator.</a:t>
            </a:r>
          </a:p>
          <a:p>
            <a:pPr marL="1312863" lvl="3" indent="-342900">
              <a:buFont typeface="+mj-lt"/>
              <a:buAutoNum type="arabicPeriod"/>
            </a:pPr>
            <a:r>
              <a:rPr lang="it-IT" dirty="0">
                <a:latin typeface="Arial" panose="020B0604020202020204" pitchFamily="34" charset="0"/>
                <a:cs typeface="Arial" panose="020B0604020202020204" pitchFamily="34" charset="0"/>
              </a:rPr>
              <a:t>After you receive the .cer file back from the CA Admin, save it in the same folder with the short VCSA name</a:t>
            </a:r>
          </a:p>
          <a:p>
            <a:pPr marL="1312863" lvl="3" indent="-342900">
              <a:buFont typeface="+mj-lt"/>
              <a:buAutoNum type="arabicPeriod"/>
            </a:pPr>
            <a:r>
              <a:rPr lang="it-IT" dirty="0">
                <a:latin typeface="Arial" panose="020B0604020202020204" pitchFamily="34" charset="0"/>
                <a:cs typeface="Arial" panose="020B0604020202020204" pitchFamily="34" charset="0"/>
              </a:rPr>
              <a:t>Run the Script a second time to complete the Certificate Generation Process</a:t>
            </a:r>
          </a:p>
          <a:p>
            <a:pPr marL="1087438" lvl="2" indent="-342900">
              <a:buFont typeface="+mj-lt"/>
              <a:buAutoNum type="alphaUcPeriod"/>
            </a:pPr>
            <a:r>
              <a:rPr lang="it-IT" dirty="0">
                <a:latin typeface="Arial" panose="020B0604020202020204" pitchFamily="34" charset="0"/>
                <a:cs typeface="Arial" panose="020B0604020202020204" pitchFamily="34" charset="0"/>
              </a:rPr>
              <a:t>If you have rights to generate Cerificates</a:t>
            </a:r>
          </a:p>
          <a:p>
            <a:pPr marL="1312863" lvl="3" indent="-342900">
              <a:buFont typeface="+mj-lt"/>
              <a:buAutoNum type="arabicPeriod"/>
            </a:pPr>
            <a:r>
              <a:rPr lang="it-IT" dirty="0">
                <a:latin typeface="Arial" panose="020B0604020202020204" pitchFamily="34" charset="0"/>
                <a:cs typeface="Arial" panose="020B0604020202020204" pitchFamily="34" charset="0"/>
              </a:rPr>
              <a:t>If you have rights to generates certificates with your MS CA, run the command line utility to find the VMware CA Template</a:t>
            </a:r>
          </a:p>
          <a:p>
            <a:pPr marL="1312863" lvl="3" indent="-342900">
              <a:buFont typeface="+mj-lt"/>
              <a:buAutoNum type="arabicPeriod"/>
            </a:pPr>
            <a:r>
              <a:rPr lang="it-IT" dirty="0">
                <a:latin typeface="Arial" panose="020B0604020202020204" pitchFamily="34" charset="0"/>
                <a:cs typeface="Arial" panose="020B0604020202020204" pitchFamily="34" charset="0"/>
              </a:rPr>
              <a:t>Update the PowerShell script with the VMware CA Template Name</a:t>
            </a:r>
          </a:p>
          <a:p>
            <a:pPr marL="1312863" lvl="3" indent="-342900">
              <a:buFont typeface="+mj-lt"/>
              <a:buAutoNum type="arabicPeriod"/>
            </a:pPr>
            <a:r>
              <a:rPr lang="it-IT" dirty="0">
                <a:latin typeface="Arial" panose="020B0604020202020204" pitchFamily="34" charset="0"/>
                <a:cs typeface="Arial" panose="020B0604020202020204" pitchFamily="34" charset="0"/>
              </a:rPr>
              <a:t>Run the Script to generate all files needed</a:t>
            </a:r>
          </a:p>
          <a:p>
            <a:pPr marL="800100" lvl="1" indent="-342900">
              <a:buFont typeface="+mj-lt"/>
              <a:buAutoNum type="arabicPeriod"/>
            </a:pPr>
            <a:r>
              <a:rPr lang="it-IT" dirty="0">
                <a:latin typeface="Arial" panose="020B0604020202020204" pitchFamily="34" charset="0"/>
                <a:cs typeface="Arial" panose="020B0604020202020204" pitchFamily="34" charset="0"/>
              </a:rPr>
              <a:t>In the Script’s Logs you will find direction for how to replace the Certificate of said product</a:t>
            </a:r>
          </a:p>
          <a:p>
            <a:pPr marL="1312863" lvl="3" indent="-342900">
              <a:buFont typeface="+mj-lt"/>
              <a:buAutoNum type="arabicPeriod"/>
            </a:pPr>
            <a:endParaRPr lang="it-IT" dirty="0">
              <a:latin typeface="Arial" panose="020B0604020202020204" pitchFamily="34" charset="0"/>
              <a:cs typeface="Arial" panose="020B0604020202020204" pitchFamily="34" charset="0"/>
            </a:endParaRPr>
          </a:p>
          <a:p>
            <a:pPr marL="1087438" lvl="2" indent="-342900">
              <a:buFont typeface="+mj-lt"/>
              <a:buAutoNum type="alphaUcPeriod"/>
            </a:pPr>
            <a:endParaRPr lang="en-US" dirty="0">
              <a:latin typeface="Arial" panose="020B0604020202020204" pitchFamily="34" charset="0"/>
              <a:cs typeface="Arial" panose="020B0604020202020204" pitchFamily="34" charset="0"/>
            </a:endParaRPr>
          </a:p>
          <a:p>
            <a:pPr marL="914400" lvl="1" indent="-457200">
              <a:buFont typeface="+mj-lt"/>
              <a:buAutoNum type="arabicPeriod"/>
            </a:pPr>
            <a:endParaRPr lang="en-US" dirty="0">
              <a:latin typeface="Arial" panose="020B0604020202020204" pitchFamily="34" charset="0"/>
              <a:cs typeface="Arial" panose="020B0604020202020204" pitchFamily="34" charset="0"/>
            </a:endParaRPr>
          </a:p>
          <a:p>
            <a:pPr>
              <a:buNone/>
            </a:pPr>
            <a:endParaRPr lang="en-US" dirty="0">
              <a:latin typeface="Arial" panose="020B0604020202020204" pitchFamily="34" charset="0"/>
              <a:cs typeface="Arial" panose="020B0604020202020204" pitchFamily="34" charset="0"/>
            </a:endParaRPr>
          </a:p>
          <a:p>
            <a:pPr>
              <a:buNone/>
            </a:pPr>
            <a:endParaRPr lang="en-US" dirty="0">
              <a:latin typeface="Arial" panose="020B0604020202020204" pitchFamily="34" charset="0"/>
              <a:cs typeface="Arial" panose="020B0604020202020204" pitchFamily="34" charset="0"/>
            </a:endParaRPr>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r>
              <a:rPr lang="en-US" dirty="0">
                <a:solidFill>
                  <a:schemeClr val="tx1">
                    <a:lumMod val="75000"/>
                  </a:schemeClr>
                </a:solidFill>
                <a:latin typeface="Arial" panose="020B0604020202020204" pitchFamily="34" charset="0"/>
                <a:cs typeface="Arial" panose="020B0604020202020204" pitchFamily="34" charset="0"/>
              </a:rPr>
              <a:t>Order to Run Scripts In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7542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PowerShell Creation Demo</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t>IT’S DEMO TIME!!!</a:t>
            </a:r>
            <a:endParaRPr dirty="0"/>
          </a:p>
        </p:txBody>
      </p:sp>
    </p:spTree>
    <p:extLst>
      <p:ext uri="{BB962C8B-B14F-4D97-AF65-F5344CB8AC3E}">
        <p14:creationId xmlns:p14="http://schemas.microsoft.com/office/powerpoint/2010/main" val="3518764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5" name="2026-10-18 09-47-30">
            <a:hlinkClick r:id="" action="ppaction://media"/>
            <a:extLst>
              <a:ext uri="{FF2B5EF4-FFF2-40B4-BE49-F238E27FC236}">
                <a16:creationId xmlns:a16="http://schemas.microsoft.com/office/drawing/2014/main" id="{1C389D9D-3F1D-F549-D67B-E915AD5E127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23826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67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Update your VCF Operations Certificate – From PowerShell</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t>DEMO!!</a:t>
            </a: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3551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5" name="2026-10-18 10-37-51">
            <a:hlinkClick r:id="" action="ppaction://media"/>
            <a:extLst>
              <a:ext uri="{FF2B5EF4-FFF2-40B4-BE49-F238E27FC236}">
                <a16:creationId xmlns:a16="http://schemas.microsoft.com/office/drawing/2014/main" id="{9135852E-D8D6-C239-3338-866F72A9AE8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57083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526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Configure VCF Operations to work with your Windows CA</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t>Steps:</a:t>
            </a:r>
          </a:p>
          <a:p>
            <a:pPr marL="692150" lvl="0" indent="-514350" algn="l" rtl="0">
              <a:lnSpc>
                <a:spcPct val="90000"/>
              </a:lnSpc>
              <a:spcBef>
                <a:spcPts val="0"/>
              </a:spcBef>
              <a:spcAft>
                <a:spcPts val="0"/>
              </a:spcAft>
              <a:buClr>
                <a:schemeClr val="dk1"/>
              </a:buClr>
              <a:buSzPts val="2800"/>
              <a:buFont typeface="+mj-lt"/>
              <a:buAutoNum type="arabicPeriod"/>
            </a:pPr>
            <a:r>
              <a:rPr lang="en-US" dirty="0"/>
              <a:t>Log in to your VCF Operations Interface using the admin </a:t>
            </a:r>
            <a:r>
              <a:rPr lang="en-US" dirty="0" err="1"/>
              <a:t>accout</a:t>
            </a:r>
            <a:endParaRPr lang="en-US" dirty="0"/>
          </a:p>
          <a:p>
            <a:pPr marL="692150" lvl="0" indent="-514350" algn="l" rtl="0">
              <a:lnSpc>
                <a:spcPct val="90000"/>
              </a:lnSpc>
              <a:spcBef>
                <a:spcPts val="0"/>
              </a:spcBef>
              <a:spcAft>
                <a:spcPts val="0"/>
              </a:spcAft>
              <a:buClr>
                <a:schemeClr val="dk1"/>
              </a:buClr>
              <a:buSzPts val="2800"/>
              <a:buFont typeface="+mj-lt"/>
              <a:buAutoNum type="arabicPeriod"/>
            </a:pPr>
            <a:r>
              <a:rPr lang="en-US" dirty="0"/>
              <a:t>Go to Manage &gt; Certificates</a:t>
            </a:r>
          </a:p>
          <a:p>
            <a:pPr marL="692150" lvl="0" indent="-514350" algn="l" rtl="0">
              <a:lnSpc>
                <a:spcPct val="90000"/>
              </a:lnSpc>
              <a:spcBef>
                <a:spcPts val="0"/>
              </a:spcBef>
              <a:spcAft>
                <a:spcPts val="0"/>
              </a:spcAft>
              <a:buClr>
                <a:schemeClr val="dk1"/>
              </a:buClr>
              <a:buSzPts val="2800"/>
              <a:buFont typeface="+mj-lt"/>
              <a:buAutoNum type="arabicPeriod"/>
            </a:pPr>
            <a:r>
              <a:rPr lang="en-US" dirty="0"/>
              <a:t>Click on Configure CA For Fleet</a:t>
            </a:r>
          </a:p>
          <a:p>
            <a:pPr marL="177800" lvl="0" indent="0" algn="l" rtl="0">
              <a:lnSpc>
                <a:spcPct val="90000"/>
              </a:lnSpc>
              <a:spcBef>
                <a:spcPts val="0"/>
              </a:spcBef>
              <a:spcAft>
                <a:spcPts val="0"/>
              </a:spcAft>
              <a:buClr>
                <a:schemeClr val="dk1"/>
              </a:buClr>
              <a:buSzPts val="2800"/>
              <a:buNone/>
            </a:pPr>
            <a:endParaRPr lang="en-US" dirty="0"/>
          </a:p>
          <a:p>
            <a:pPr marL="228600" lvl="0" indent="-5080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3DABE462-3DD5-8577-4B43-469F67E1C803}"/>
              </a:ext>
            </a:extLst>
          </p:cNvPr>
          <p:cNvPicPr>
            <a:picLocks noChangeAspect="1"/>
          </p:cNvPicPr>
          <p:nvPr/>
        </p:nvPicPr>
        <p:blipFill>
          <a:blip r:embed="rId3"/>
          <a:stretch>
            <a:fillRect/>
          </a:stretch>
        </p:blipFill>
        <p:spPr>
          <a:xfrm>
            <a:off x="447678" y="3007206"/>
            <a:ext cx="9231161" cy="3318043"/>
          </a:xfrm>
          <a:prstGeom prst="rect">
            <a:avLst/>
          </a:prstGeom>
        </p:spPr>
      </p:pic>
    </p:spTree>
    <p:extLst>
      <p:ext uri="{BB962C8B-B14F-4D97-AF65-F5344CB8AC3E}">
        <p14:creationId xmlns:p14="http://schemas.microsoft.com/office/powerpoint/2010/main" val="15821188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Configure Microsoft CA For Fleet</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t>Steps:</a:t>
            </a:r>
          </a:p>
          <a:p>
            <a:pPr marL="692150" lvl="0" indent="-514350" algn="l" rtl="0">
              <a:lnSpc>
                <a:spcPct val="90000"/>
              </a:lnSpc>
              <a:spcBef>
                <a:spcPts val="0"/>
              </a:spcBef>
              <a:spcAft>
                <a:spcPts val="0"/>
              </a:spcAft>
              <a:buClr>
                <a:schemeClr val="dk1"/>
              </a:buClr>
              <a:buSzPts val="2800"/>
              <a:buFont typeface="+mj-lt"/>
              <a:buAutoNum type="arabicPeriod"/>
            </a:pPr>
            <a:r>
              <a:rPr lang="en-US" dirty="0"/>
              <a:t>Select Microsoft CA</a:t>
            </a:r>
          </a:p>
          <a:p>
            <a:pPr marL="692150" lvl="0" indent="-514350" algn="l" rtl="0">
              <a:lnSpc>
                <a:spcPct val="90000"/>
              </a:lnSpc>
              <a:spcBef>
                <a:spcPts val="0"/>
              </a:spcBef>
              <a:spcAft>
                <a:spcPts val="0"/>
              </a:spcAft>
              <a:buClr>
                <a:schemeClr val="dk1"/>
              </a:buClr>
              <a:buSzPts val="2800"/>
              <a:buFont typeface="+mj-lt"/>
              <a:buAutoNum type="arabicPeriod"/>
            </a:pPr>
            <a:r>
              <a:rPr lang="en-US" dirty="0"/>
              <a:t>CA </a:t>
            </a:r>
            <a:r>
              <a:rPr lang="en-US" dirty="0" err="1"/>
              <a:t>Url</a:t>
            </a:r>
            <a:r>
              <a:rPr lang="en-US" dirty="0"/>
              <a:t> - </a:t>
            </a:r>
            <a:r>
              <a:rPr lang="en-US" dirty="0">
                <a:hlinkClick r:id="rId3"/>
              </a:rPr>
              <a:t>https://CAFQDN/certsrv</a:t>
            </a:r>
            <a:endParaRPr lang="en-US" dirty="0"/>
          </a:p>
          <a:p>
            <a:pPr marL="692150" lvl="0" indent="-514350" algn="l" rtl="0">
              <a:lnSpc>
                <a:spcPct val="90000"/>
              </a:lnSpc>
              <a:spcBef>
                <a:spcPts val="0"/>
              </a:spcBef>
              <a:spcAft>
                <a:spcPts val="0"/>
              </a:spcAft>
              <a:buClr>
                <a:schemeClr val="dk1"/>
              </a:buClr>
              <a:buSzPts val="2800"/>
              <a:buFont typeface="+mj-lt"/>
              <a:buAutoNum type="arabicPeriod"/>
            </a:pPr>
            <a:r>
              <a:rPr lang="en-US" dirty="0"/>
              <a:t>Username – </a:t>
            </a:r>
            <a:r>
              <a:rPr lang="en-US" dirty="0" err="1"/>
              <a:t>username@domain</a:t>
            </a:r>
            <a:endParaRPr lang="en-US" dirty="0"/>
          </a:p>
          <a:p>
            <a:pPr marL="692150" lvl="0" indent="-514350" algn="l" rtl="0">
              <a:lnSpc>
                <a:spcPct val="90000"/>
              </a:lnSpc>
              <a:spcBef>
                <a:spcPts val="0"/>
              </a:spcBef>
              <a:spcAft>
                <a:spcPts val="0"/>
              </a:spcAft>
              <a:buClr>
                <a:schemeClr val="dk1"/>
              </a:buClr>
              <a:buSzPts val="2800"/>
              <a:buFont typeface="+mj-lt"/>
              <a:buAutoNum type="arabicPeriod"/>
            </a:pPr>
            <a:r>
              <a:rPr lang="en-US" dirty="0"/>
              <a:t>Password – Password for service account</a:t>
            </a:r>
          </a:p>
          <a:p>
            <a:pPr marL="692150" lvl="0" indent="-514350" algn="l" rtl="0">
              <a:lnSpc>
                <a:spcPct val="90000"/>
              </a:lnSpc>
              <a:spcBef>
                <a:spcPts val="0"/>
              </a:spcBef>
              <a:spcAft>
                <a:spcPts val="0"/>
              </a:spcAft>
              <a:buClr>
                <a:schemeClr val="dk1"/>
              </a:buClr>
              <a:buSzPts val="2800"/>
              <a:buFont typeface="+mj-lt"/>
              <a:buAutoNum type="arabicPeriod"/>
            </a:pPr>
            <a:r>
              <a:rPr lang="en-US" dirty="0"/>
              <a:t>Template (No Spaces)</a:t>
            </a:r>
          </a:p>
          <a:p>
            <a:pPr marL="692150" lvl="0" indent="-514350" algn="l" rtl="0">
              <a:lnSpc>
                <a:spcPct val="90000"/>
              </a:lnSpc>
              <a:spcBef>
                <a:spcPts val="0"/>
              </a:spcBef>
              <a:spcAft>
                <a:spcPts val="0"/>
              </a:spcAft>
              <a:buClr>
                <a:schemeClr val="dk1"/>
              </a:buClr>
              <a:buSzPts val="2800"/>
              <a:buFont typeface="+mj-lt"/>
              <a:buAutoNum type="arabicPeriod"/>
            </a:pPr>
            <a:r>
              <a:rPr lang="en-US" dirty="0"/>
              <a:t>Click Save</a:t>
            </a: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1632F3C-F424-E292-D44D-A4727BD48AF7}"/>
              </a:ext>
            </a:extLst>
          </p:cNvPr>
          <p:cNvPicPr>
            <a:picLocks noChangeAspect="1"/>
          </p:cNvPicPr>
          <p:nvPr/>
        </p:nvPicPr>
        <p:blipFill>
          <a:blip r:embed="rId4"/>
          <a:stretch>
            <a:fillRect/>
          </a:stretch>
        </p:blipFill>
        <p:spPr>
          <a:xfrm>
            <a:off x="4445008" y="3131972"/>
            <a:ext cx="5182071" cy="3726027"/>
          </a:xfrm>
          <a:prstGeom prst="rect">
            <a:avLst/>
          </a:prstGeom>
        </p:spPr>
      </p:pic>
    </p:spTree>
    <p:extLst>
      <p:ext uri="{BB962C8B-B14F-4D97-AF65-F5344CB8AC3E}">
        <p14:creationId xmlns:p14="http://schemas.microsoft.com/office/powerpoint/2010/main" val="1952785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fontScale="90000"/>
          </a:bodyPr>
          <a:lstStyle/>
          <a:p>
            <a:r>
              <a:rPr lang="en-US" sz="3200" dirty="0">
                <a:solidFill>
                  <a:srgbClr val="1D428A"/>
                </a:solidFill>
                <a:latin typeface="Arial" panose="020B0604020202020204" pitchFamily="34" charset="0"/>
                <a:cs typeface="Arial" panose="020B0604020202020204" pitchFamily="34" charset="0"/>
              </a:rPr>
              <a:t>Steps to renew/replace VCSA certificate using VCF Operations</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t>DEMO!!!</a:t>
            </a: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0946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3" name="2026-10-18 11-02-41">
            <a:hlinkClick r:id="" action="ppaction://media"/>
            <a:extLst>
              <a:ext uri="{FF2B5EF4-FFF2-40B4-BE49-F238E27FC236}">
                <a16:creationId xmlns:a16="http://schemas.microsoft.com/office/drawing/2014/main" id="{0AF2C956-9AFD-B605-BA07-930947FC4F8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33518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75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Questions???</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8106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358345" y="365125"/>
            <a:ext cx="11454713" cy="611059"/>
          </a:xfrm>
          <a:prstGeom prst="rect">
            <a:avLst/>
          </a:prstGeom>
          <a:noFill/>
          <a:ln>
            <a:noFill/>
          </a:ln>
        </p:spPr>
        <p:txBody>
          <a:bodyPr spcFirstLastPara="1" wrap="square" lIns="91425" tIns="45700" rIns="91425" bIns="45700" anchor="ctr" anchorCtr="0">
            <a:normAutofit/>
          </a:bodyPr>
          <a:lstStyle/>
          <a:p>
            <a:r>
              <a:rPr lang="en-US" sz="3200" dirty="0">
                <a:solidFill>
                  <a:srgbClr val="1D428A"/>
                </a:solidFill>
                <a:latin typeface="Arial" panose="020B0604020202020204" pitchFamily="34" charset="0"/>
                <a:cs typeface="Arial" panose="020B0604020202020204" pitchFamily="34" charset="0"/>
              </a:rPr>
              <a:t>Thank You</a:t>
            </a:r>
          </a:p>
        </p:txBody>
      </p:sp>
      <p:sp>
        <p:nvSpPr>
          <p:cNvPr id="179" name="Google Shape;179;p20"/>
          <p:cNvSpPr txBox="1">
            <a:spLocks noGrp="1"/>
          </p:cNvSpPr>
          <p:nvPr>
            <p:ph type="body" idx="1"/>
          </p:nvPr>
        </p:nvSpPr>
        <p:spPr>
          <a:xfrm>
            <a:off x="358345" y="1260818"/>
            <a:ext cx="11454713" cy="4351338"/>
          </a:xfrm>
          <a:prstGeom prst="rect">
            <a:avLst/>
          </a:prstGeom>
          <a:noFill/>
          <a:ln>
            <a:noFill/>
          </a:ln>
        </p:spPr>
        <p:txBody>
          <a:bodyPr spcFirstLastPara="1" wrap="square" lIns="91425" tIns="45700" rIns="91425" bIns="45700" anchor="t" anchorCtr="0">
            <a:normAutofit/>
          </a:bodyPr>
          <a:lstStyle/>
          <a:p>
            <a:pPr marL="228600" indent="-50800">
              <a:spcBef>
                <a:spcPts val="0"/>
              </a:spcBef>
              <a:buNone/>
            </a:pPr>
            <a:r>
              <a:rPr lang="en-US" sz="2000" dirty="0">
                <a:solidFill>
                  <a:schemeClr val="tx1">
                    <a:lumMod val="75000"/>
                  </a:schemeClr>
                </a:solidFill>
                <a:latin typeface="Arial" panose="020B0604020202020204" pitchFamily="34" charset="0"/>
                <a:cs typeface="Arial" panose="020B0604020202020204" pitchFamily="34" charset="0"/>
              </a:rPr>
              <a:t>Russell Hamker</a:t>
            </a:r>
            <a:endParaRPr lang="en-US" sz="2000" dirty="0">
              <a:latin typeface="Arial" panose="020B0604020202020204" pitchFamily="34" charset="0"/>
              <a:cs typeface="Arial" panose="020B0604020202020204" pitchFamily="34" charset="0"/>
            </a:endParaRPr>
          </a:p>
          <a:p>
            <a:pPr marL="228600" lvl="0" indent="-50800" algn="l" rtl="0">
              <a:lnSpc>
                <a:spcPct val="90000"/>
              </a:lnSpc>
              <a:spcBef>
                <a:spcPts val="0"/>
              </a:spcBef>
              <a:spcAft>
                <a:spcPts val="0"/>
              </a:spcAft>
              <a:buClr>
                <a:schemeClr val="dk1"/>
              </a:buClr>
              <a:buSzPts val="2800"/>
              <a:buNone/>
            </a:pPr>
            <a:r>
              <a:rPr lang="en-US" sz="2000" dirty="0"/>
              <a:t>Enterprise VMware Architect</a:t>
            </a:r>
          </a:p>
          <a:p>
            <a:pPr marL="228600" lvl="0" indent="-50800" algn="l" rtl="0">
              <a:lnSpc>
                <a:spcPct val="90000"/>
              </a:lnSpc>
              <a:spcBef>
                <a:spcPts val="0"/>
              </a:spcBef>
              <a:spcAft>
                <a:spcPts val="0"/>
              </a:spcAft>
              <a:buClr>
                <a:schemeClr val="dk1"/>
              </a:buClr>
              <a:buSzPts val="2800"/>
              <a:buNone/>
            </a:pPr>
            <a:endParaRPr lang="en-US" sz="2000" dirty="0"/>
          </a:p>
          <a:p>
            <a:pPr marL="228600" lvl="0" indent="-50800" algn="l" rtl="0">
              <a:lnSpc>
                <a:spcPct val="90000"/>
              </a:lnSpc>
              <a:spcBef>
                <a:spcPts val="0"/>
              </a:spcBef>
              <a:spcAft>
                <a:spcPts val="0"/>
              </a:spcAft>
              <a:buClr>
                <a:schemeClr val="dk1"/>
              </a:buClr>
              <a:buSzPts val="2800"/>
              <a:buNone/>
            </a:pPr>
            <a:endParaRPr sz="2000" dirty="0"/>
          </a:p>
        </p:txBody>
      </p:sp>
      <p:sp>
        <p:nvSpPr>
          <p:cNvPr id="2" name="Subtitle 5">
            <a:extLst>
              <a:ext uri="{FF2B5EF4-FFF2-40B4-BE49-F238E27FC236}">
                <a16:creationId xmlns:a16="http://schemas.microsoft.com/office/drawing/2014/main" id="{C0E91A2E-E269-9F2A-A1D3-6E5F7A2158B8}"/>
              </a:ext>
            </a:extLst>
          </p:cNvPr>
          <p:cNvSpPr txBox="1">
            <a:spLocks/>
          </p:cNvSpPr>
          <p:nvPr/>
        </p:nvSpPr>
        <p:spPr>
          <a:xfrm>
            <a:off x="378942" y="870757"/>
            <a:ext cx="10987947" cy="247743"/>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endParaRPr lang="en-US" dirty="0">
              <a:latin typeface="Arial" panose="020B0604020202020204" pitchFamily="34" charset="0"/>
              <a:cs typeface="Arial" panose="020B0604020202020204" pitchFamily="34" charset="0"/>
            </a:endParaRPr>
          </a:p>
        </p:txBody>
      </p:sp>
      <p:pic>
        <p:nvPicPr>
          <p:cNvPr id="3" name="Picture 10" descr="GitHub logo PNG">
            <a:extLst>
              <a:ext uri="{FF2B5EF4-FFF2-40B4-BE49-F238E27FC236}">
                <a16:creationId xmlns:a16="http://schemas.microsoft.com/office/drawing/2014/main" id="{243F25DC-08C8-F984-9E51-DC614456E8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378" y="2043442"/>
            <a:ext cx="1738774" cy="704376"/>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6">
            <a:extLst>
              <a:ext uri="{FF2B5EF4-FFF2-40B4-BE49-F238E27FC236}">
                <a16:creationId xmlns:a16="http://schemas.microsoft.com/office/drawing/2014/main" id="{DAB7EF19-6B12-C13B-9C8E-45819366C15E}"/>
              </a:ext>
            </a:extLst>
          </p:cNvPr>
          <p:cNvSpPr txBox="1">
            <a:spLocks/>
          </p:cNvSpPr>
          <p:nvPr/>
        </p:nvSpPr>
        <p:spPr>
          <a:xfrm>
            <a:off x="2260121" y="2237704"/>
            <a:ext cx="3985403" cy="395301"/>
          </a:xfrm>
          <a:prstGeom prst="rect">
            <a:avLst/>
          </a:prstGeom>
        </p:spPr>
        <p:txBody>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None/>
              <a:defRPr sz="11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r>
              <a:rPr lang="en-US" sz="1800" dirty="0">
                <a:solidFill>
                  <a:schemeClr val="accent1">
                    <a:lumMod val="75000"/>
                  </a:schemeClr>
                </a:solidFill>
                <a:hlinkClick r:id="rId4">
                  <a:extLst>
                    <a:ext uri="{A12FA001-AC4F-418D-AE19-62706E023703}">
                      <ahyp:hlinkClr xmlns:ahyp="http://schemas.microsoft.com/office/drawing/2018/hyperlinkcolor" val="tx"/>
                    </a:ext>
                  </a:extLst>
                </a:hlinkClick>
              </a:rPr>
              <a:t>https://github.com/butch7903</a:t>
            </a:r>
            <a:br>
              <a:rPr lang="en-US" sz="1800" dirty="0">
                <a:solidFill>
                  <a:schemeClr val="accent1">
                    <a:lumMod val="75000"/>
                  </a:schemeClr>
                </a:solidFill>
              </a:rPr>
            </a:br>
            <a:r>
              <a:rPr lang="en-US" sz="1800" dirty="0">
                <a:solidFill>
                  <a:schemeClr val="accent1">
                    <a:lumMod val="75000"/>
                  </a:schemeClr>
                </a:solidFill>
              </a:rPr>
              <a:t>      </a:t>
            </a:r>
            <a:endParaRPr lang="en-US" sz="1800" u="sng" dirty="0">
              <a:solidFill>
                <a:schemeClr val="accent1">
                  <a:lumMod val="75000"/>
                </a:schemeClr>
              </a:solidFill>
            </a:endParaRPr>
          </a:p>
          <a:p>
            <a:endParaRPr lang="en-US" dirty="0">
              <a:solidFill>
                <a:schemeClr val="tx1">
                  <a:lumMod val="75000"/>
                </a:schemeClr>
              </a:solidFill>
            </a:endParaRPr>
          </a:p>
        </p:txBody>
      </p:sp>
      <p:pic>
        <p:nvPicPr>
          <p:cNvPr id="6" name="Picture 5">
            <a:extLst>
              <a:ext uri="{FF2B5EF4-FFF2-40B4-BE49-F238E27FC236}">
                <a16:creationId xmlns:a16="http://schemas.microsoft.com/office/drawing/2014/main" id="{B8994321-3B56-FF19-9E4B-7ACCD91B8C73}"/>
              </a:ext>
            </a:extLst>
          </p:cNvPr>
          <p:cNvPicPr>
            <a:picLocks noChangeAspect="1"/>
          </p:cNvPicPr>
          <p:nvPr/>
        </p:nvPicPr>
        <p:blipFill>
          <a:blip r:embed="rId5"/>
          <a:stretch>
            <a:fillRect/>
          </a:stretch>
        </p:blipFill>
        <p:spPr>
          <a:xfrm>
            <a:off x="606378" y="2943515"/>
            <a:ext cx="614604" cy="580605"/>
          </a:xfrm>
          <a:prstGeom prst="rect">
            <a:avLst/>
          </a:prstGeom>
        </p:spPr>
      </p:pic>
      <p:sp>
        <p:nvSpPr>
          <p:cNvPr id="7" name="Text Placeholder 6">
            <a:extLst>
              <a:ext uri="{FF2B5EF4-FFF2-40B4-BE49-F238E27FC236}">
                <a16:creationId xmlns:a16="http://schemas.microsoft.com/office/drawing/2014/main" id="{5AF86AF7-C32B-78BC-EEFD-0ADF7AF8D8E5}"/>
              </a:ext>
            </a:extLst>
          </p:cNvPr>
          <p:cNvSpPr txBox="1">
            <a:spLocks/>
          </p:cNvSpPr>
          <p:nvPr/>
        </p:nvSpPr>
        <p:spPr>
          <a:xfrm>
            <a:off x="1293962" y="3054869"/>
            <a:ext cx="4512181" cy="1650211"/>
          </a:xfrm>
          <a:prstGeom prst="rect">
            <a:avLst/>
          </a:prstGeom>
        </p:spPr>
        <p:txBody>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None/>
              <a:defRPr sz="1100" kern="1200">
                <a:solidFill>
                  <a:schemeClr val="bg1"/>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r>
              <a:rPr lang="en-US" sz="1800" dirty="0">
                <a:solidFill>
                  <a:schemeClr val="tx1">
                    <a:lumMod val="75000"/>
                  </a:schemeClr>
                </a:solidFill>
              </a:rPr>
              <a:t>Twitter: @butch7903</a:t>
            </a:r>
            <a:br>
              <a:rPr lang="en-US" sz="1800" dirty="0">
                <a:solidFill>
                  <a:schemeClr val="tx1">
                    <a:lumMod val="75000"/>
                  </a:schemeClr>
                </a:solidFill>
              </a:rPr>
            </a:br>
            <a:endParaRPr lang="en-US" sz="1800" dirty="0">
              <a:solidFill>
                <a:schemeClr val="tx1">
                  <a:lumMod val="75000"/>
                </a:schemeClr>
              </a:solidFill>
            </a:endParaRPr>
          </a:p>
          <a:p>
            <a:r>
              <a:rPr lang="en-US" sz="1800" dirty="0">
                <a:solidFill>
                  <a:schemeClr val="tx1">
                    <a:lumMod val="75000"/>
                  </a:schemeClr>
                </a:solidFill>
              </a:rPr>
              <a:t>LinkedIn:   </a:t>
            </a:r>
            <a:r>
              <a:rPr lang="en-US" sz="1800" dirty="0">
                <a:solidFill>
                  <a:srgbClr val="006990"/>
                </a:solidFill>
                <a:hlinkClick r:id="rId6">
                  <a:extLst>
                    <a:ext uri="{A12FA001-AC4F-418D-AE19-62706E023703}">
                      <ahyp:hlinkClr xmlns:ahyp="http://schemas.microsoft.com/office/drawing/2018/hyperlinkcolor" val="tx"/>
                    </a:ext>
                  </a:extLst>
                </a:hlinkClick>
              </a:rPr>
              <a:t>https</a:t>
            </a:r>
            <a:r>
              <a:rPr lang="en-US" sz="1800" dirty="0">
                <a:solidFill>
                  <a:schemeClr val="accent1">
                    <a:lumMod val="75000"/>
                  </a:schemeClr>
                </a:solidFill>
                <a:hlinkClick r:id="rId6">
                  <a:extLst>
                    <a:ext uri="{A12FA001-AC4F-418D-AE19-62706E023703}">
                      <ahyp:hlinkClr xmlns:ahyp="http://schemas.microsoft.com/office/drawing/2018/hyperlinkcolor" val="tx"/>
                    </a:ext>
                  </a:extLst>
                </a:hlinkClick>
              </a:rPr>
              <a:t>://www.linkedin.com/in/russhamker/</a:t>
            </a:r>
            <a:endParaRPr lang="en-US" sz="1800" dirty="0">
              <a:solidFill>
                <a:schemeClr val="accent1">
                  <a:lumMod val="75000"/>
                </a:schemeClr>
              </a:solidFill>
            </a:endParaRPr>
          </a:p>
          <a:p>
            <a:endParaRPr lang="en-US" dirty="0">
              <a:solidFill>
                <a:schemeClr val="tx1">
                  <a:lumMod val="75000"/>
                </a:schemeClr>
              </a:solidFill>
            </a:endParaRPr>
          </a:p>
        </p:txBody>
      </p:sp>
      <p:pic>
        <p:nvPicPr>
          <p:cNvPr id="8" name="Picture 8" descr="Linkedin Logo Download Vector, 2020">
            <a:extLst>
              <a:ext uri="{FF2B5EF4-FFF2-40B4-BE49-F238E27FC236}">
                <a16:creationId xmlns:a16="http://schemas.microsoft.com/office/drawing/2014/main" id="{3985D972-CC83-E414-5B5E-B4CD7F3127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6378" y="3856481"/>
            <a:ext cx="614604" cy="61460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828D6A67-8141-86A7-F29E-8764D0A55E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79848" y="365125"/>
            <a:ext cx="5313872" cy="5313872"/>
          </a:xfrm>
          <a:prstGeom prst="rect">
            <a:avLst/>
          </a:prstGeom>
        </p:spPr>
      </p:pic>
    </p:spTree>
    <p:extLst>
      <p:ext uri="{BB962C8B-B14F-4D97-AF65-F5344CB8AC3E}">
        <p14:creationId xmlns:p14="http://schemas.microsoft.com/office/powerpoint/2010/main" val="24936546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9A0C16-95C4-6855-9691-D6C48B78F10D}"/>
              </a:ext>
            </a:extLst>
          </p:cNvPr>
          <p:cNvSpPr txBox="1"/>
          <p:nvPr/>
        </p:nvSpPr>
        <p:spPr>
          <a:xfrm>
            <a:off x="839971" y="769747"/>
            <a:ext cx="7493145" cy="769441"/>
          </a:xfrm>
          <a:prstGeom prst="rect">
            <a:avLst/>
          </a:prstGeom>
          <a:noFill/>
        </p:spPr>
        <p:txBody>
          <a:bodyPr wrap="square" lIns="91440" tIns="45720" rIns="91440" bIns="45720" anchor="t">
            <a:spAutoFit/>
          </a:bodyPr>
          <a:lstStyle/>
          <a:p>
            <a:r>
              <a:rPr lang="en-US" sz="4400" b="1" dirty="0">
                <a:solidFill>
                  <a:srgbClr val="1D428A"/>
                </a:solidFill>
                <a:latin typeface="Aptos"/>
              </a:rPr>
              <a:t>Did you enjoy the session?</a:t>
            </a:r>
          </a:p>
        </p:txBody>
      </p:sp>
      <p:sp>
        <p:nvSpPr>
          <p:cNvPr id="4" name="TextBox 3">
            <a:extLst>
              <a:ext uri="{FF2B5EF4-FFF2-40B4-BE49-F238E27FC236}">
                <a16:creationId xmlns:a16="http://schemas.microsoft.com/office/drawing/2014/main" id="{F2F6FAF4-A6DF-C33F-9C15-76ACCC143169}"/>
              </a:ext>
            </a:extLst>
          </p:cNvPr>
          <p:cNvSpPr txBox="1"/>
          <p:nvPr/>
        </p:nvSpPr>
        <p:spPr>
          <a:xfrm>
            <a:off x="970091" y="1959282"/>
            <a:ext cx="7652874" cy="25647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2400" b="1">
                <a:solidFill>
                  <a:srgbClr val="1D428A"/>
                </a:solidFill>
                <a:latin typeface="Aptos"/>
              </a:rPr>
              <a:t>Your Feedback Is Important</a:t>
            </a:r>
            <a:endParaRPr lang="en-US" sz="2400"/>
          </a:p>
          <a:p>
            <a:pPr lvl="1">
              <a:lnSpc>
                <a:spcPct val="90000"/>
              </a:lnSpc>
              <a:spcBef>
                <a:spcPts val="500"/>
              </a:spcBef>
            </a:pPr>
            <a:endParaRPr lang="en-US">
              <a:solidFill>
                <a:srgbClr val="1D428A"/>
              </a:solidFill>
              <a:latin typeface="Aptos"/>
            </a:endParaRPr>
          </a:p>
          <a:p>
            <a:pPr lvl="1">
              <a:lnSpc>
                <a:spcPct val="90000"/>
              </a:lnSpc>
              <a:spcBef>
                <a:spcPts val="500"/>
              </a:spcBef>
            </a:pPr>
            <a:r>
              <a:rPr lang="en-US">
                <a:solidFill>
                  <a:srgbClr val="1D428A"/>
                </a:solidFill>
                <a:latin typeface="Aptos"/>
              </a:rPr>
              <a:t>Please take a minute to complete the survey session in the mobile app.</a:t>
            </a:r>
          </a:p>
          <a:p>
            <a:pPr marL="1257300" lvl="2" indent="-342900">
              <a:lnSpc>
                <a:spcPct val="90000"/>
              </a:lnSpc>
              <a:spcBef>
                <a:spcPts val="500"/>
              </a:spcBef>
              <a:buAutoNum type="arabicPeriod"/>
            </a:pPr>
            <a:r>
              <a:rPr lang="en-US">
                <a:solidFill>
                  <a:srgbClr val="1D428A"/>
                </a:solidFill>
                <a:latin typeface="Aptos"/>
              </a:rPr>
              <a:t>Navigate to this session </a:t>
            </a:r>
          </a:p>
          <a:p>
            <a:pPr marL="1257300" lvl="2" indent="-342900">
              <a:lnSpc>
                <a:spcPct val="90000"/>
              </a:lnSpc>
              <a:spcBef>
                <a:spcPts val="500"/>
              </a:spcBef>
              <a:buAutoNum type="arabicPeriod"/>
            </a:pPr>
            <a:r>
              <a:rPr lang="en-US">
                <a:solidFill>
                  <a:srgbClr val="1D428A"/>
                </a:solidFill>
                <a:latin typeface="Aptos"/>
              </a:rPr>
              <a:t>Take this survey</a:t>
            </a:r>
          </a:p>
          <a:p>
            <a:pPr marL="1257300" lvl="2" indent="-342900">
              <a:lnSpc>
                <a:spcPct val="90000"/>
              </a:lnSpc>
              <a:spcBef>
                <a:spcPts val="500"/>
              </a:spcBef>
              <a:buAutoNum type="arabicPeriod"/>
            </a:pPr>
            <a:r>
              <a:rPr lang="en-US">
                <a:solidFill>
                  <a:srgbClr val="1D428A"/>
                </a:solidFill>
                <a:latin typeface="Aptos"/>
              </a:rPr>
              <a:t>Enjoy your next session!</a:t>
            </a:r>
          </a:p>
          <a:p>
            <a:pPr marL="1257300" lvl="2" indent="-342900">
              <a:lnSpc>
                <a:spcPct val="90000"/>
              </a:lnSpc>
              <a:spcBef>
                <a:spcPts val="500"/>
              </a:spcBef>
              <a:buAutoNum type="arabicPeriod"/>
            </a:pPr>
            <a:endParaRPr lang="en-US" sz="1600">
              <a:solidFill>
                <a:srgbClr val="1D428A"/>
              </a:solidFill>
              <a:latin typeface="Aptos"/>
            </a:endParaRPr>
          </a:p>
          <a:p>
            <a:pPr marL="1257300" lvl="2" indent="-342900">
              <a:lnSpc>
                <a:spcPct val="90000"/>
              </a:lnSpc>
              <a:spcBef>
                <a:spcPts val="500"/>
              </a:spcBef>
              <a:buAutoNum type="arabicPeriod"/>
            </a:pPr>
            <a:endParaRPr lang="en-US" sz="1600">
              <a:solidFill>
                <a:srgbClr val="1D428A"/>
              </a:solidFill>
              <a:latin typeface="Aptos"/>
            </a:endParaRPr>
          </a:p>
        </p:txBody>
      </p:sp>
      <p:sp>
        <p:nvSpPr>
          <p:cNvPr id="5" name="TextBox 4">
            <a:extLst>
              <a:ext uri="{FF2B5EF4-FFF2-40B4-BE49-F238E27FC236}">
                <a16:creationId xmlns:a16="http://schemas.microsoft.com/office/drawing/2014/main" id="{AC6727A6-6914-6846-5FFB-16C26EEF97FE}"/>
              </a:ext>
            </a:extLst>
          </p:cNvPr>
          <p:cNvSpPr txBox="1"/>
          <p:nvPr/>
        </p:nvSpPr>
        <p:spPr>
          <a:xfrm>
            <a:off x="7943417" y="3872756"/>
            <a:ext cx="374193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1D428A"/>
                </a:solidFill>
                <a:latin typeface="Aptos"/>
              </a:rPr>
              <a:t>Download the VMUG Connect app </a:t>
            </a:r>
            <a:endParaRPr lang="en-US" sz="1600">
              <a:solidFill>
                <a:srgbClr val="1D428A"/>
              </a:solidFill>
              <a:latin typeface="Aptos"/>
            </a:endParaRPr>
          </a:p>
          <a:p>
            <a:r>
              <a:rPr lang="en-US" sz="1600">
                <a:solidFill>
                  <a:srgbClr val="1D428A"/>
                </a:solidFill>
                <a:latin typeface="Aptos"/>
              </a:rPr>
              <a:t>Make the most of your time onsite. </a:t>
            </a:r>
            <a:endParaRPr lang="en-US"/>
          </a:p>
          <a:p>
            <a:pPr algn="l"/>
            <a:endParaRPr lang="en-US" sz="2400">
              <a:solidFill>
                <a:srgbClr val="1D428A"/>
              </a:solidFill>
            </a:endParaRPr>
          </a:p>
        </p:txBody>
      </p:sp>
      <p:pic>
        <p:nvPicPr>
          <p:cNvPr id="6" name="Picture 5" descr="A qr code on a white background&#10;&#10;AI-generated content may be incorrect.">
            <a:extLst>
              <a:ext uri="{FF2B5EF4-FFF2-40B4-BE49-F238E27FC236}">
                <a16:creationId xmlns:a16="http://schemas.microsoft.com/office/drawing/2014/main" id="{980CBFA0-1A50-F118-B9E8-EDBDBD6BCCCB}"/>
              </a:ext>
            </a:extLst>
          </p:cNvPr>
          <p:cNvPicPr>
            <a:picLocks noChangeAspect="1"/>
          </p:cNvPicPr>
          <p:nvPr/>
        </p:nvPicPr>
        <p:blipFill>
          <a:blip r:embed="rId2"/>
          <a:stretch>
            <a:fillRect/>
          </a:stretch>
        </p:blipFill>
        <p:spPr>
          <a:xfrm>
            <a:off x="7795103" y="5030722"/>
            <a:ext cx="1469503" cy="1469503"/>
          </a:xfrm>
          <a:prstGeom prst="rect">
            <a:avLst/>
          </a:prstGeom>
        </p:spPr>
      </p:pic>
      <p:sp>
        <p:nvSpPr>
          <p:cNvPr id="8" name="TextBox 7">
            <a:extLst>
              <a:ext uri="{FF2B5EF4-FFF2-40B4-BE49-F238E27FC236}">
                <a16:creationId xmlns:a16="http://schemas.microsoft.com/office/drawing/2014/main" id="{0162DC12-C67C-8791-1AFD-C7AD4B83D490}"/>
              </a:ext>
            </a:extLst>
          </p:cNvPr>
          <p:cNvSpPr txBox="1"/>
          <p:nvPr/>
        </p:nvSpPr>
        <p:spPr>
          <a:xfrm>
            <a:off x="7797374" y="4653182"/>
            <a:ext cx="146972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1D428A"/>
                </a:solidFill>
              </a:rPr>
              <a:t>Google Store</a:t>
            </a:r>
            <a:endParaRPr lang="en-US"/>
          </a:p>
        </p:txBody>
      </p:sp>
      <p:pic>
        <p:nvPicPr>
          <p:cNvPr id="9" name="Picture 8" descr="A qr code with black squares&#10;&#10;AI-generated content may be incorrect.">
            <a:extLst>
              <a:ext uri="{FF2B5EF4-FFF2-40B4-BE49-F238E27FC236}">
                <a16:creationId xmlns:a16="http://schemas.microsoft.com/office/drawing/2014/main" id="{088490D3-D888-F0C3-1DD0-C3A7CF188FA2}"/>
              </a:ext>
            </a:extLst>
          </p:cNvPr>
          <p:cNvPicPr>
            <a:picLocks noChangeAspect="1"/>
          </p:cNvPicPr>
          <p:nvPr/>
        </p:nvPicPr>
        <p:blipFill>
          <a:blip r:embed="rId3"/>
          <a:stretch>
            <a:fillRect/>
          </a:stretch>
        </p:blipFill>
        <p:spPr>
          <a:xfrm>
            <a:off x="10289870" y="5034159"/>
            <a:ext cx="1476507" cy="1466068"/>
          </a:xfrm>
          <a:prstGeom prst="rect">
            <a:avLst/>
          </a:prstGeom>
        </p:spPr>
      </p:pic>
      <p:sp>
        <p:nvSpPr>
          <p:cNvPr id="10" name="TextBox 9">
            <a:extLst>
              <a:ext uri="{FF2B5EF4-FFF2-40B4-BE49-F238E27FC236}">
                <a16:creationId xmlns:a16="http://schemas.microsoft.com/office/drawing/2014/main" id="{80B7ADD3-14F8-2E1C-23A8-FDFC5934F902}"/>
              </a:ext>
            </a:extLst>
          </p:cNvPr>
          <p:cNvSpPr txBox="1"/>
          <p:nvPr/>
        </p:nvSpPr>
        <p:spPr>
          <a:xfrm>
            <a:off x="10292140" y="4653182"/>
            <a:ext cx="146972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1D428A"/>
                </a:solidFill>
              </a:rPr>
              <a:t>App Store</a:t>
            </a:r>
            <a:endParaRPr lang="en-US"/>
          </a:p>
        </p:txBody>
      </p:sp>
    </p:spTree>
    <p:extLst>
      <p:ext uri="{BB962C8B-B14F-4D97-AF65-F5344CB8AC3E}">
        <p14:creationId xmlns:p14="http://schemas.microsoft.com/office/powerpoint/2010/main" val="14251434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7B297F-C619-FD37-391C-4732961BD7DF}"/>
              </a:ext>
            </a:extLst>
          </p:cNvPr>
          <p:cNvSpPr txBox="1"/>
          <p:nvPr/>
        </p:nvSpPr>
        <p:spPr>
          <a:xfrm>
            <a:off x="839972" y="769747"/>
            <a:ext cx="4625164" cy="1138773"/>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prstClr val="white"/>
                </a:solidFill>
                <a:effectLst/>
                <a:uLnTx/>
                <a:uFillTx/>
                <a:latin typeface="Aptos"/>
                <a:ea typeface="+mn-ea"/>
                <a:cs typeface="+mn-cs"/>
              </a:rPr>
              <a:t>From </a:t>
            </a:r>
            <a:r>
              <a:rPr kumimoji="0" lang="en-US" sz="2400" b="0" i="0" u="none" strike="noStrike" kern="1200" cap="none" spc="0" normalizeH="0" baseline="0" noProof="0">
                <a:ln>
                  <a:noFill/>
                </a:ln>
                <a:solidFill>
                  <a:prstClr val="white"/>
                </a:solidFill>
                <a:effectLst/>
                <a:uLnTx/>
                <a:uFillTx/>
                <a:latin typeface="Aptos"/>
                <a:ea typeface="+mn-ea"/>
                <a:cs typeface="+mn-cs"/>
              </a:rPr>
              <a:t>Connect</a:t>
            </a:r>
            <a:r>
              <a:rPr kumimoji="0" lang="en-US" sz="2400" b="0" i="1" u="none" strike="noStrike" kern="1200" cap="none" spc="0" normalizeH="0" baseline="0" noProof="0">
                <a:ln>
                  <a:noFill/>
                </a:ln>
                <a:solidFill>
                  <a:prstClr val="white"/>
                </a:solidFill>
                <a:effectLst/>
                <a:uLnTx/>
                <a:uFillTx/>
                <a:latin typeface="Aptos"/>
                <a:ea typeface="+mn-ea"/>
                <a:cs typeface="+mn-cs"/>
              </a:rPr>
              <a:t> to Community - </a:t>
            </a:r>
            <a:r>
              <a:rPr kumimoji="0" lang="en-US" sz="4400" b="1" i="0" u="none" strike="noStrike" kern="1200" cap="none" spc="0" normalizeH="0" baseline="0" noProof="0">
                <a:ln>
                  <a:noFill/>
                </a:ln>
                <a:solidFill>
                  <a:prstClr val="white"/>
                </a:solidFill>
                <a:effectLst/>
                <a:uLnTx/>
                <a:uFillTx/>
                <a:latin typeface="Aptos"/>
                <a:ea typeface="+mn-ea"/>
                <a:cs typeface="+mn-cs"/>
              </a:rPr>
              <a:t>What’s Next?</a:t>
            </a:r>
          </a:p>
        </p:txBody>
      </p:sp>
      <p:sp>
        <p:nvSpPr>
          <p:cNvPr id="6" name="TextBox 5">
            <a:extLst>
              <a:ext uri="{FF2B5EF4-FFF2-40B4-BE49-F238E27FC236}">
                <a16:creationId xmlns:a16="http://schemas.microsoft.com/office/drawing/2014/main" id="{99609CA6-88FF-B523-E4F1-0E83782F1A00}"/>
              </a:ext>
            </a:extLst>
          </p:cNvPr>
          <p:cNvSpPr txBox="1"/>
          <p:nvPr/>
        </p:nvSpPr>
        <p:spPr>
          <a:xfrm>
            <a:off x="840653" y="2102472"/>
            <a:ext cx="4051437" cy="31202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a:ea typeface="+mn-ea"/>
                <a:cs typeface="+mn-cs"/>
              </a:rPr>
              <a:t>Make the Most of Your Time          at Connect!</a:t>
            </a:r>
            <a:endParaRPr kumimoji="0" lang="en-US" sz="1800" b="0" i="0" u="none" strike="noStrike" kern="1200" cap="none" spc="0" normalizeH="0" baseline="0" noProof="0">
              <a:ln>
                <a:noFill/>
              </a:ln>
              <a:solidFill>
                <a:prstClr val="white"/>
              </a:solidFill>
              <a:effectLst/>
              <a:uLnTx/>
              <a:uFillTx/>
              <a:latin typeface="Aptos"/>
              <a:ea typeface="+mn-ea"/>
              <a:cs typeface="+mn-cs"/>
            </a:endParaRPr>
          </a:p>
          <a:p>
            <a:pPr marL="742950" marR="0" lvl="1" indent="-285750" algn="l" defTabSz="914400" rtl="0" eaLnBrk="1" fontAlgn="auto" latinLnBrk="0" hangingPunct="1">
              <a:lnSpc>
                <a:spcPct val="90000"/>
              </a:lnSpc>
              <a:spcBef>
                <a:spcPts val="500"/>
              </a:spcBef>
              <a:spcAft>
                <a:spcPts val="0"/>
              </a:spcAft>
              <a:buClrTx/>
              <a:buSzTx/>
              <a:buFont typeface="Courier New,monospace"/>
              <a:buChar char="o"/>
              <a:tabLst/>
              <a:defRPr/>
            </a:pPr>
            <a:r>
              <a:rPr kumimoji="0" lang="en-US" sz="1600" b="0" i="0" u="none" strike="noStrike" kern="1200" cap="none" spc="0" normalizeH="0" baseline="0" noProof="0">
                <a:ln>
                  <a:noFill/>
                </a:ln>
                <a:solidFill>
                  <a:prstClr val="white"/>
                </a:solidFill>
                <a:effectLst/>
                <a:uLnTx/>
                <a:uFillTx/>
                <a:latin typeface="Aptos"/>
                <a:ea typeface="+mn-ea"/>
                <a:cs typeface="+mn-cs"/>
              </a:rPr>
              <a:t>Take a </a:t>
            </a:r>
            <a:r>
              <a:rPr kumimoji="0" lang="en-US" sz="1600" b="1" i="0" u="none" strike="noStrike" kern="1200" cap="none" spc="0" normalizeH="0" baseline="0" noProof="0">
                <a:ln>
                  <a:noFill/>
                </a:ln>
                <a:solidFill>
                  <a:prstClr val="white"/>
                </a:solidFill>
                <a:effectLst/>
                <a:uLnTx/>
                <a:uFillTx/>
                <a:latin typeface="Aptos"/>
                <a:ea typeface="+mn-ea"/>
                <a:cs typeface="+mn-cs"/>
              </a:rPr>
              <a:t>Certification </a:t>
            </a:r>
            <a:r>
              <a:rPr kumimoji="0" lang="en-US" sz="1600" b="0" i="0" u="none" strike="noStrike" kern="1200" cap="none" spc="0" normalizeH="0" baseline="0" noProof="0">
                <a:ln>
                  <a:noFill/>
                </a:ln>
                <a:solidFill>
                  <a:prstClr val="white"/>
                </a:solidFill>
                <a:effectLst/>
                <a:uLnTx/>
                <a:uFillTx/>
                <a:latin typeface="Aptos"/>
                <a:ea typeface="+mn-ea"/>
                <a:cs typeface="+mn-cs"/>
              </a:rPr>
              <a:t>Exam – Prove your skills and boost your career.</a:t>
            </a:r>
          </a:p>
          <a:p>
            <a:pPr marL="742950" marR="0" lvl="1" indent="-285750" algn="l" defTabSz="914400" rtl="0" eaLnBrk="1" fontAlgn="auto" latinLnBrk="0" hangingPunct="1">
              <a:lnSpc>
                <a:spcPct val="90000"/>
              </a:lnSpc>
              <a:spcBef>
                <a:spcPts val="500"/>
              </a:spcBef>
              <a:spcAft>
                <a:spcPts val="0"/>
              </a:spcAft>
              <a:buClrTx/>
              <a:buSzTx/>
              <a:buFont typeface="Courier New,monospace"/>
              <a:buChar char="o"/>
              <a:tabLst/>
              <a:defRPr/>
            </a:pPr>
            <a:r>
              <a:rPr kumimoji="0" lang="en-US" sz="1600" b="0" i="0" u="none" strike="noStrike" kern="1200" cap="none" spc="0" normalizeH="0" baseline="0" noProof="0">
                <a:ln>
                  <a:noFill/>
                </a:ln>
                <a:solidFill>
                  <a:prstClr val="white"/>
                </a:solidFill>
                <a:effectLst/>
                <a:uLnTx/>
                <a:uFillTx/>
                <a:latin typeface="Aptos"/>
                <a:ea typeface="+mn-ea"/>
                <a:cs typeface="+mn-cs"/>
              </a:rPr>
              <a:t>Meet Your </a:t>
            </a:r>
            <a:r>
              <a:rPr kumimoji="0" lang="en-US" sz="1600" b="1" i="0" u="none" strike="noStrike" kern="1200" cap="none" spc="0" normalizeH="0" baseline="0" noProof="0">
                <a:ln>
                  <a:noFill/>
                </a:ln>
                <a:solidFill>
                  <a:prstClr val="white"/>
                </a:solidFill>
                <a:effectLst/>
                <a:uLnTx/>
                <a:uFillTx/>
                <a:latin typeface="Aptos"/>
                <a:ea typeface="+mn-ea"/>
                <a:cs typeface="+mn-cs"/>
              </a:rPr>
              <a:t>Local Leaders</a:t>
            </a:r>
            <a:r>
              <a:rPr kumimoji="0" lang="en-US" sz="1600" b="0" i="0" u="none" strike="noStrike" kern="1200" cap="none" spc="0" normalizeH="0" baseline="0" noProof="0">
                <a:ln>
                  <a:noFill/>
                </a:ln>
                <a:solidFill>
                  <a:prstClr val="white"/>
                </a:solidFill>
                <a:effectLst/>
                <a:uLnTx/>
                <a:uFillTx/>
                <a:latin typeface="Aptos"/>
                <a:ea typeface="+mn-ea"/>
                <a:cs typeface="+mn-cs"/>
              </a:rPr>
              <a:t> – Find out how to stay involved year-round.</a:t>
            </a:r>
          </a:p>
          <a:p>
            <a:pPr marL="742950" marR="0" lvl="1" indent="-285750" algn="l" defTabSz="914400" rtl="0" eaLnBrk="1" fontAlgn="auto" latinLnBrk="0" hangingPunct="1">
              <a:lnSpc>
                <a:spcPct val="90000"/>
              </a:lnSpc>
              <a:spcBef>
                <a:spcPts val="500"/>
              </a:spcBef>
              <a:spcAft>
                <a:spcPts val="0"/>
              </a:spcAft>
              <a:buClrTx/>
              <a:buSzTx/>
              <a:buFont typeface="Courier New,monospace"/>
              <a:buChar char="o"/>
              <a:tabLst/>
              <a:defRPr/>
            </a:pPr>
            <a:r>
              <a:rPr kumimoji="0" lang="en-US" sz="1600" b="0" i="0" u="none" strike="noStrike" kern="1200" cap="none" spc="0" normalizeH="0" baseline="0" noProof="0">
                <a:ln>
                  <a:noFill/>
                </a:ln>
                <a:solidFill>
                  <a:prstClr val="white"/>
                </a:solidFill>
                <a:effectLst/>
                <a:uLnTx/>
                <a:uFillTx/>
                <a:latin typeface="Aptos"/>
                <a:ea typeface="+mn-ea"/>
                <a:cs typeface="+mn-cs"/>
              </a:rPr>
              <a:t>Explore </a:t>
            </a:r>
            <a:r>
              <a:rPr kumimoji="0" lang="en-US" sz="1600" b="1" i="0" u="none" strike="noStrike" kern="1200" cap="none" spc="0" normalizeH="0" baseline="0" noProof="0">
                <a:ln>
                  <a:noFill/>
                </a:ln>
                <a:solidFill>
                  <a:prstClr val="white"/>
                </a:solidFill>
                <a:effectLst/>
                <a:uLnTx/>
                <a:uFillTx/>
                <a:latin typeface="Aptos"/>
                <a:ea typeface="+mn-ea"/>
                <a:cs typeface="+mn-cs"/>
              </a:rPr>
              <a:t>Partner Solutions</a:t>
            </a:r>
            <a:r>
              <a:rPr kumimoji="0" lang="en-US" sz="1600" b="0" i="0" u="none" strike="noStrike" kern="1200" cap="none" spc="0" normalizeH="0" baseline="0" noProof="0">
                <a:ln>
                  <a:noFill/>
                </a:ln>
                <a:solidFill>
                  <a:prstClr val="white"/>
                </a:solidFill>
                <a:effectLst/>
                <a:uLnTx/>
                <a:uFillTx/>
                <a:latin typeface="Aptos"/>
                <a:ea typeface="+mn-ea"/>
                <a:cs typeface="+mn-cs"/>
              </a:rPr>
              <a:t> –</a:t>
            </a:r>
            <a:r>
              <a:rPr kumimoji="0" lang="en-US" sz="1600" b="0" i="0" u="none" strike="noStrike" kern="1200" cap="none" spc="0" normalizeH="0" baseline="0" noProof="0" dirty="0">
                <a:ln>
                  <a:noFill/>
                </a:ln>
                <a:solidFill>
                  <a:prstClr val="black"/>
                </a:solidFill>
                <a:effectLst/>
                <a:uLnTx/>
                <a:uFillTx/>
                <a:latin typeface="Aptos"/>
                <a:ea typeface="+mn-ea"/>
                <a:cs typeface="+mn-cs"/>
              </a:rPr>
              <a:t> </a:t>
            </a:r>
            <a:r>
              <a:rPr kumimoji="0" lang="en-US" sz="1600" b="0" i="0" u="none" strike="noStrike" kern="1200" cap="none" spc="0" normalizeH="0" baseline="0" noProof="0">
                <a:ln>
                  <a:noFill/>
                </a:ln>
                <a:solidFill>
                  <a:prstClr val="white"/>
                </a:solidFill>
                <a:effectLst/>
                <a:uLnTx/>
                <a:uFillTx/>
                <a:latin typeface="Aptos"/>
                <a:ea typeface="+mn-ea"/>
                <a:cs typeface="+mn-cs"/>
              </a:rPr>
              <a:t>Get hands-on with the latest VMware innovations.</a:t>
            </a:r>
          </a:p>
          <a:p>
            <a:pPr marL="742950" marR="0" lvl="1" indent="-285750" algn="l" defTabSz="914400" rtl="0" eaLnBrk="1" fontAlgn="auto" latinLnBrk="0" hangingPunct="1">
              <a:lnSpc>
                <a:spcPct val="90000"/>
              </a:lnSpc>
              <a:spcBef>
                <a:spcPts val="500"/>
              </a:spcBef>
              <a:spcAft>
                <a:spcPts val="0"/>
              </a:spcAft>
              <a:buClrTx/>
              <a:buSzTx/>
              <a:buFont typeface="Courier New,monospace"/>
              <a:buChar char="o"/>
              <a:tabLst/>
              <a:defRPr/>
            </a:pPr>
            <a:r>
              <a:rPr kumimoji="0" lang="en-US" sz="1600" b="0" i="0" u="none" strike="noStrike" kern="1200" cap="none" spc="0" normalizeH="0" baseline="0" noProof="0" dirty="0">
                <a:ln>
                  <a:noFill/>
                </a:ln>
                <a:solidFill>
                  <a:prstClr val="white"/>
                </a:solidFill>
                <a:effectLst/>
                <a:uLnTx/>
                <a:uFillTx/>
                <a:latin typeface="Aptos"/>
                <a:ea typeface="+mn-ea"/>
                <a:cs typeface="+mn-cs"/>
              </a:rPr>
              <a:t>Upgrade to </a:t>
            </a:r>
            <a:r>
              <a:rPr kumimoji="0" lang="en-US" sz="1600" b="1" i="0" u="none" strike="noStrike" kern="1200" cap="none" spc="0" normalizeH="0" baseline="0" noProof="0" dirty="0">
                <a:ln>
                  <a:noFill/>
                </a:ln>
                <a:solidFill>
                  <a:prstClr val="white"/>
                </a:solidFill>
                <a:effectLst/>
                <a:uLnTx/>
                <a:uFillTx/>
                <a:latin typeface="Aptos"/>
                <a:ea typeface="+mn-ea"/>
                <a:cs typeface="+mn-cs"/>
              </a:rPr>
              <a:t>VMUG Advantage</a:t>
            </a:r>
            <a:r>
              <a:rPr kumimoji="0" lang="en-US" sz="1600" b="0" i="0" u="none" strike="noStrike" kern="1200" cap="none" spc="0" normalizeH="0" baseline="0" noProof="0" dirty="0">
                <a:ln>
                  <a:noFill/>
                </a:ln>
                <a:solidFill>
                  <a:prstClr val="white"/>
                </a:solidFill>
                <a:effectLst/>
                <a:uLnTx/>
                <a:uFillTx/>
                <a:latin typeface="Aptos"/>
                <a:ea typeface="+mn-ea"/>
                <a:cs typeface="+mn-cs"/>
              </a:rPr>
              <a:t> –Unlock exclusive training, personal-use </a:t>
            </a:r>
            <a:r>
              <a:rPr kumimoji="0" lang="en-US" sz="1600" b="0" i="0" u="none" strike="noStrike" kern="1200" cap="none" spc="0" normalizeH="0" baseline="0" noProof="0" dirty="0" err="1">
                <a:ln>
                  <a:noFill/>
                </a:ln>
                <a:solidFill>
                  <a:prstClr val="white"/>
                </a:solidFill>
                <a:effectLst/>
                <a:uLnTx/>
                <a:uFillTx/>
                <a:latin typeface="Aptos"/>
                <a:ea typeface="+mn-ea"/>
                <a:cs typeface="+mn-cs"/>
              </a:rPr>
              <a:t>homelab</a:t>
            </a:r>
            <a:r>
              <a:rPr kumimoji="0" lang="en-US" sz="1600" b="0" i="0" u="none" strike="noStrike" kern="1200" cap="none" spc="0" normalizeH="0" baseline="0" noProof="0" dirty="0">
                <a:ln>
                  <a:noFill/>
                </a:ln>
                <a:solidFill>
                  <a:prstClr val="white"/>
                </a:solidFill>
                <a:effectLst/>
                <a:uLnTx/>
                <a:uFillTx/>
                <a:latin typeface="Aptos"/>
                <a:ea typeface="+mn-ea"/>
                <a:cs typeface="+mn-cs"/>
              </a:rPr>
              <a:t> licenses, and more!</a:t>
            </a:r>
          </a:p>
        </p:txBody>
      </p:sp>
      <p:sp>
        <p:nvSpPr>
          <p:cNvPr id="7" name="TextBox 6">
            <a:extLst>
              <a:ext uri="{FF2B5EF4-FFF2-40B4-BE49-F238E27FC236}">
                <a16:creationId xmlns:a16="http://schemas.microsoft.com/office/drawing/2014/main" id="{B2CFFF10-FB90-0631-6501-417705FB7F90}"/>
              </a:ext>
            </a:extLst>
          </p:cNvPr>
          <p:cNvSpPr txBox="1"/>
          <p:nvPr/>
        </p:nvSpPr>
        <p:spPr>
          <a:xfrm>
            <a:off x="5715711" y="2103966"/>
            <a:ext cx="4786204" cy="31843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a:ea typeface="+mn-ea"/>
                <a:cs typeface="+mn-cs"/>
              </a:rPr>
              <a:t>Keep Exploring, Learning, and Networking!</a:t>
            </a:r>
          </a:p>
          <a:p>
            <a:pPr marL="800100" marR="0" lvl="1" indent="-342900" algn="l" defTabSz="914400" rtl="0" eaLnBrk="1" fontAlgn="auto" latinLnBrk="0" hangingPunct="1">
              <a:lnSpc>
                <a:spcPct val="90000"/>
              </a:lnSpc>
              <a:spcBef>
                <a:spcPts val="500"/>
              </a:spcBef>
              <a:spcAft>
                <a:spcPts val="0"/>
              </a:spcAft>
              <a:buClrTx/>
              <a:buSzTx/>
              <a:buFontTx/>
              <a:buAutoNum type="arabicPeriod"/>
              <a:tabLst/>
              <a:defRPr/>
            </a:pPr>
            <a:r>
              <a:rPr kumimoji="0" lang="en-US" sz="1600" b="0" i="0" u="none" strike="noStrike" kern="1200" cap="none" spc="0" normalizeH="0" baseline="0" noProof="0">
                <a:ln>
                  <a:noFill/>
                </a:ln>
                <a:solidFill>
                  <a:prstClr val="white"/>
                </a:solidFill>
                <a:effectLst/>
                <a:uLnTx/>
                <a:uFillTx/>
                <a:latin typeface="Aptos"/>
                <a:ea typeface="+mn-ea"/>
                <a:cs typeface="+mn-cs"/>
              </a:rPr>
              <a:t>Join your local VMUG Chapter </a:t>
            </a:r>
          </a:p>
          <a:p>
            <a:pPr marL="800100" marR="0" lvl="1" indent="-342900" algn="l" defTabSz="914400" rtl="0" eaLnBrk="1" fontAlgn="auto" latinLnBrk="0" hangingPunct="1">
              <a:lnSpc>
                <a:spcPct val="90000"/>
              </a:lnSpc>
              <a:spcBef>
                <a:spcPts val="500"/>
              </a:spcBef>
              <a:spcAft>
                <a:spcPts val="0"/>
              </a:spcAft>
              <a:buClrTx/>
              <a:buSzTx/>
              <a:buFontTx/>
              <a:buAutoNum type="arabicPeriod"/>
              <a:tabLst/>
              <a:defRPr/>
            </a:pPr>
            <a:r>
              <a:rPr kumimoji="0" lang="en-US" sz="1600" b="0" i="0" u="none" strike="noStrike" kern="1200" cap="none" spc="0" normalizeH="0" baseline="0" noProof="0">
                <a:ln>
                  <a:noFill/>
                </a:ln>
                <a:solidFill>
                  <a:prstClr val="white"/>
                </a:solidFill>
                <a:effectLst/>
                <a:uLnTx/>
                <a:uFillTx/>
                <a:latin typeface="Aptos"/>
                <a:ea typeface="+mn-ea"/>
                <a:cs typeface="+mn-cs"/>
              </a:rPr>
              <a:t>Tap Into Advantage Benefits</a:t>
            </a:r>
          </a:p>
          <a:p>
            <a:pPr marL="800100" marR="0" lvl="1" indent="-342900" algn="l" defTabSz="914400" rtl="0" eaLnBrk="1" fontAlgn="auto" latinLnBrk="0" hangingPunct="1">
              <a:lnSpc>
                <a:spcPct val="90000"/>
              </a:lnSpc>
              <a:spcBef>
                <a:spcPts val="500"/>
              </a:spcBef>
              <a:spcAft>
                <a:spcPts val="0"/>
              </a:spcAft>
              <a:buClrTx/>
              <a:buSzTx/>
              <a:buFontTx/>
              <a:buAutoNum type="arabicPeriod"/>
              <a:tabLst/>
              <a:defRPr/>
            </a:pPr>
            <a:r>
              <a:rPr kumimoji="0" lang="en-US" sz="1600" b="0" i="0" u="none" strike="noStrike" kern="1200" cap="none" spc="0" normalizeH="0" baseline="0" noProof="0">
                <a:ln>
                  <a:noFill/>
                </a:ln>
                <a:solidFill>
                  <a:prstClr val="white"/>
                </a:solidFill>
                <a:effectLst/>
                <a:uLnTx/>
                <a:uFillTx/>
                <a:latin typeface="Aptos"/>
                <a:ea typeface="+mn-ea"/>
                <a:cs typeface="+mn-cs"/>
              </a:rPr>
              <a:t>Follow VMUG on Social – Stay in the loop and share your experience! #VMUGConnect</a:t>
            </a: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a:p>
            <a:pPr marL="800100" marR="0" lvl="1" indent="-342900" algn="l" defTabSz="914400" rtl="0" eaLnBrk="1" fontAlgn="auto" latinLnBrk="0" hangingPunct="1">
              <a:lnSpc>
                <a:spcPct val="90000"/>
              </a:lnSpc>
              <a:spcBef>
                <a:spcPts val="500"/>
              </a:spcBef>
              <a:spcAft>
                <a:spcPts val="0"/>
              </a:spcAft>
              <a:buClrTx/>
              <a:buSzTx/>
              <a:buFontTx/>
              <a:buAutoNum type="arabicPeriod"/>
              <a:tabLst/>
              <a:defRPr/>
            </a:pPr>
            <a:r>
              <a:rPr kumimoji="0" lang="en-US" sz="1600" b="0" i="0" u="none" strike="noStrike" kern="1200" cap="none" spc="0" normalizeH="0" baseline="0" noProof="0">
                <a:ln>
                  <a:noFill/>
                </a:ln>
                <a:solidFill>
                  <a:prstClr val="white"/>
                </a:solidFill>
                <a:effectLst/>
                <a:uLnTx/>
                <a:uFillTx/>
                <a:latin typeface="Aptos"/>
                <a:ea typeface="+mn-ea"/>
                <a:cs typeface="+mn-cs"/>
              </a:rPr>
              <a:t>Mark Your Calendar for VMware Explore – Be part of the biggest VMware event of the year. VMUG cannot wait to see you there</a:t>
            </a:r>
          </a:p>
          <a:p>
            <a:pPr marL="800100" marR="0" lvl="1" indent="-342900" algn="l" defTabSz="914400" rtl="0" eaLnBrk="1" fontAlgn="auto" latinLnBrk="0" hangingPunct="1">
              <a:lnSpc>
                <a:spcPct val="90000"/>
              </a:lnSpc>
              <a:spcBef>
                <a:spcPts val="500"/>
              </a:spcBef>
              <a:spcAft>
                <a:spcPts val="0"/>
              </a:spcAft>
              <a:buClrTx/>
              <a:buSzTx/>
              <a:buFontTx/>
              <a:buAutoNum type="arabicPeriod"/>
              <a:tabLst/>
              <a:defRPr/>
            </a:pPr>
            <a:r>
              <a:rPr kumimoji="0" lang="en-US" sz="1600" b="0" i="0" u="none" strike="noStrike" kern="1200" cap="none" spc="0" normalizeH="0" baseline="0" noProof="0">
                <a:ln>
                  <a:noFill/>
                </a:ln>
                <a:solidFill>
                  <a:prstClr val="white"/>
                </a:solidFill>
                <a:effectLst/>
                <a:uLnTx/>
                <a:uFillTx/>
                <a:latin typeface="Aptos"/>
                <a:ea typeface="+mn-ea"/>
                <a:cs typeface="+mn-cs"/>
              </a:rPr>
              <a:t>Look out for Global Virtual Events on vmug.com</a:t>
            </a:r>
            <a:endParaRPr kumimoji="0" lang="en-US" sz="1600" b="0" i="0" u="none" strike="noStrike" kern="1200" cap="none" spc="0" normalizeH="0" baseline="0" noProof="0" dirty="0">
              <a:ln>
                <a:noFill/>
              </a:ln>
              <a:solidFill>
                <a:prstClr val="white"/>
              </a:solidFill>
              <a:effectLst/>
              <a:uLnTx/>
              <a:uFillTx/>
              <a:latin typeface="Aptos"/>
              <a:ea typeface="+mn-ea"/>
              <a:cs typeface="+mn-cs"/>
            </a:endParaRPr>
          </a:p>
        </p:txBody>
      </p:sp>
      <p:sp>
        <p:nvSpPr>
          <p:cNvPr id="8" name="TextBox 7">
            <a:extLst>
              <a:ext uri="{FF2B5EF4-FFF2-40B4-BE49-F238E27FC236}">
                <a16:creationId xmlns:a16="http://schemas.microsoft.com/office/drawing/2014/main" id="{86F94450-BC36-8C32-5566-0CB733F43F4B}"/>
              </a:ext>
            </a:extLst>
          </p:cNvPr>
          <p:cNvSpPr txBox="1"/>
          <p:nvPr/>
        </p:nvSpPr>
        <p:spPr>
          <a:xfrm>
            <a:off x="7335396" y="5819491"/>
            <a:ext cx="366153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ptos"/>
                <a:ea typeface="+mn-ea"/>
                <a:cs typeface="+mn-cs"/>
              </a:rPr>
              <a:t>Ready to take the next step?</a:t>
            </a:r>
            <a:endParaRPr kumimoji="0" lang="en-US" sz="1600" b="0" i="0" u="none" strike="noStrike" kern="1200" cap="none" spc="0" normalizeH="0" baseline="0" noProof="0">
              <a:ln>
                <a:noFill/>
              </a:ln>
              <a:solidFill>
                <a:prstClr val="white"/>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ptos"/>
                <a:ea typeface="+mn-ea"/>
                <a:cs typeface="+mn-cs"/>
              </a:rPr>
              <a:t>Visit </a:t>
            </a:r>
            <a:r>
              <a:rPr kumimoji="0" lang="en-US" sz="1600" b="1" i="0" u="none" strike="noStrike" kern="1200" cap="none" spc="0" normalizeH="0" baseline="0" noProof="0">
                <a:ln>
                  <a:noFill/>
                </a:ln>
                <a:solidFill>
                  <a:prstClr val="white"/>
                </a:solidFill>
                <a:effectLst/>
                <a:uLnTx/>
                <a:uFillTx/>
                <a:latin typeface="Aptos"/>
                <a:ea typeface="+mn-ea"/>
                <a:cs typeface="+mn-cs"/>
                <a:hlinkClick r:id="rId2">
                  <a:extLst>
                    <a:ext uri="{A12FA001-AC4F-418D-AE19-62706E023703}">
                      <ahyp:hlinkClr xmlns:ahyp="http://schemas.microsoft.com/office/drawing/2018/hyperlinkcolor" val="tx"/>
                    </a:ext>
                  </a:extLst>
                </a:hlinkClick>
              </a:rPr>
              <a:t>VMUG.com</a:t>
            </a:r>
            <a:r>
              <a:rPr kumimoji="0" lang="en-US" sz="1600" b="1" i="0" u="none" strike="noStrike" kern="1200" cap="none" spc="0" normalizeH="0" baseline="0" noProof="0">
                <a:ln>
                  <a:noFill/>
                </a:ln>
                <a:solidFill>
                  <a:prstClr val="white"/>
                </a:solidFill>
                <a:effectLst/>
                <a:uLnTx/>
                <a:uFillTx/>
                <a:latin typeface="Aptos"/>
                <a:ea typeface="+mn-ea"/>
                <a:cs typeface="+mn-cs"/>
              </a:rPr>
              <a:t> and stay connected!</a:t>
            </a:r>
            <a:endParaRPr kumimoji="0" lang="en-US" sz="1600" b="0" i="0" u="none" strike="noStrike" kern="1200" cap="none" spc="0" normalizeH="0" baseline="0" noProof="0">
              <a:ln>
                <a:noFill/>
              </a:ln>
              <a:solidFill>
                <a:prstClr val="white"/>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11" name="Picture 10" descr="A qr code with black squares&#10;&#10;Description automatically generated">
            <a:extLst>
              <a:ext uri="{FF2B5EF4-FFF2-40B4-BE49-F238E27FC236}">
                <a16:creationId xmlns:a16="http://schemas.microsoft.com/office/drawing/2014/main" id="{37A4A825-A491-E9B0-BA64-8B46A84F6C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1313" y="5716047"/>
            <a:ext cx="746851" cy="734048"/>
          </a:xfrm>
          <a:prstGeom prst="rect">
            <a:avLst/>
          </a:prstGeom>
        </p:spPr>
      </p:pic>
      <p:pic>
        <p:nvPicPr>
          <p:cNvPr id="2" name="Picture 1" descr="A white text on a black background&#10;&#10;AI-generated content may be incorrect.">
            <a:extLst>
              <a:ext uri="{FF2B5EF4-FFF2-40B4-BE49-F238E27FC236}">
                <a16:creationId xmlns:a16="http://schemas.microsoft.com/office/drawing/2014/main" id="{C3A2F950-48D9-0F92-26F8-E642CA9A0388}"/>
              </a:ext>
            </a:extLst>
          </p:cNvPr>
          <p:cNvPicPr>
            <a:picLocks noChangeAspect="1"/>
          </p:cNvPicPr>
          <p:nvPr/>
        </p:nvPicPr>
        <p:blipFill>
          <a:blip r:embed="rId4"/>
          <a:stretch>
            <a:fillRect/>
          </a:stretch>
        </p:blipFill>
        <p:spPr>
          <a:xfrm>
            <a:off x="10079126" y="925920"/>
            <a:ext cx="1248580" cy="291594"/>
          </a:xfrm>
          <a:prstGeom prst="rect">
            <a:avLst/>
          </a:prstGeom>
        </p:spPr>
      </p:pic>
    </p:spTree>
    <p:extLst>
      <p:ext uri="{BB962C8B-B14F-4D97-AF65-F5344CB8AC3E}">
        <p14:creationId xmlns:p14="http://schemas.microsoft.com/office/powerpoint/2010/main" val="444061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2866</TotalTime>
  <Words>1321</Words>
  <Application>Microsoft Office PowerPoint</Application>
  <PresentationFormat>Widescreen</PresentationFormat>
  <Paragraphs>198</Paragraphs>
  <Slides>38</Slides>
  <Notes>36</Notes>
  <HiddenSlides>0</HiddenSlides>
  <MMClips>3</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38</vt:i4>
      </vt:variant>
    </vt:vector>
  </HeadingPairs>
  <TitlesOfParts>
    <vt:vector size="46" baseType="lpstr">
      <vt:lpstr>Aptos</vt:lpstr>
      <vt:lpstr>Aptos Display</vt:lpstr>
      <vt:lpstr>Arial</vt:lpstr>
      <vt:lpstr>Calibri</vt:lpstr>
      <vt:lpstr>Courier New,monospace</vt:lpstr>
      <vt:lpstr>Metropolis</vt:lpstr>
      <vt:lpstr>Office Theme</vt:lpstr>
      <vt:lpstr>1_office theme</vt:lpstr>
      <vt:lpstr>PowerPoint Presentation</vt:lpstr>
      <vt:lpstr>PowerPoint Presentation</vt:lpstr>
      <vt:lpstr>Intro</vt:lpstr>
      <vt:lpstr>Overview</vt:lpstr>
      <vt:lpstr>SSL</vt:lpstr>
      <vt:lpstr>Why Use SSL Certificates</vt:lpstr>
      <vt:lpstr>Details about the Certificate Process</vt:lpstr>
      <vt:lpstr>What are we trying to accomplish?</vt:lpstr>
      <vt:lpstr>Methods to Create Certificates</vt:lpstr>
      <vt:lpstr>How do I see most Companies do VMware Certificates?</vt:lpstr>
      <vt:lpstr>Why Use PowerShell to generate Certificates?</vt:lpstr>
      <vt:lpstr>Use VCF Operations to Assist in Certificate Management</vt:lpstr>
      <vt:lpstr>When TO use VCF Operations for Certificate Creation</vt:lpstr>
      <vt:lpstr>When Not to use VCF Operations for Certificate Creation</vt:lpstr>
      <vt:lpstr>How to set up a Windows CA</vt:lpstr>
      <vt:lpstr>If you plan to use VCF Operations with a Windows CA</vt:lpstr>
      <vt:lpstr>Windows CA IIS Configuration</vt:lpstr>
      <vt:lpstr>Configure CA – Configure IIS Bindings</vt:lpstr>
      <vt:lpstr>Configure Windows CA with IIS – Enable Basic Authentication</vt:lpstr>
      <vt:lpstr>VCF Operations – Create AD Service Account</vt:lpstr>
      <vt:lpstr>VCF Operations – Allow Service Account to Create Certificates</vt:lpstr>
      <vt:lpstr>For PowerShell or VCF Operations – Create Certificate Template</vt:lpstr>
      <vt:lpstr>VMwareCertificate Template Details</vt:lpstr>
      <vt:lpstr>Add the Template to the CA</vt:lpstr>
      <vt:lpstr>If you wish to do PowerShell Certificates</vt:lpstr>
      <vt:lpstr>Create a Certificate via PowerShell</vt:lpstr>
      <vt:lpstr>PowerShell Creation Demo</vt:lpstr>
      <vt:lpstr>PowerPoint Presentation</vt:lpstr>
      <vt:lpstr>Update your VCF Operations Certificate – From PowerShell</vt:lpstr>
      <vt:lpstr>PowerPoint Presentation</vt:lpstr>
      <vt:lpstr>Configure VCF Operations to work with your Windows CA</vt:lpstr>
      <vt:lpstr>Configure Microsoft CA For Fleet</vt:lpstr>
      <vt:lpstr>Steps to renew/replace VCSA certificate using VCF Operations</vt:lpstr>
      <vt:lpstr>PowerPoint Presentation</vt:lpstr>
      <vt:lpstr>Questions???</vt:lpstr>
      <vt:lpstr>Thank You</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Russ Hamker</dc:creator>
  <cp:lastModifiedBy>Russ Hamker</cp:lastModifiedBy>
  <cp:revision>29</cp:revision>
  <dcterms:created xsi:type="dcterms:W3CDTF">2026-10-15T20:43:36Z</dcterms:created>
  <dcterms:modified xsi:type="dcterms:W3CDTF">2026-10-18T16:29:38Z</dcterms:modified>
</cp:coreProperties>
</file>